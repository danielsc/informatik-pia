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tags/tag23.xml" ContentType="application/vnd.openxmlformats-officedocument.presentationml.tags+xml"/>
  <Override PartName="/ppt/notesSlides/notesSlide15.xml" ContentType="application/vnd.openxmlformats-officedocument.presentationml.notesSlide+xml"/>
  <Override PartName="/ppt/tags/tag24.xml" ContentType="application/vnd.openxmlformats-officedocument.presentationml.tags+xml"/>
  <Override PartName="/ppt/notesSlides/notesSlide1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9.xml" ContentType="application/vnd.openxmlformats-officedocument.presentationml.notesSlide+xml"/>
  <Override PartName="/ppt/tags/tag30.xml" ContentType="application/vnd.openxmlformats-officedocument.presentationml.tags+xml"/>
  <Override PartName="/ppt/notesSlides/notesSlide20.xml" ContentType="application/vnd.openxmlformats-officedocument.presentationml.notesSlide+xml"/>
  <Override PartName="/ppt/tags/tag31.xml" ContentType="application/vnd.openxmlformats-officedocument.presentationml.tags+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22.xml" ContentType="application/vnd.openxmlformats-officedocument.presentationml.notesSlide+xml"/>
  <Override PartName="/ppt/tags/tag33.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notesSlides/notesSlide24.xml" ContentType="application/vnd.openxmlformats-officedocument.presentationml.notesSlide+xml"/>
  <Override PartName="/ppt/tags/tag3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65"/>
  </p:notesMasterIdLst>
  <p:sldIdLst>
    <p:sldId id="1661" r:id="rId6"/>
    <p:sldId id="256" r:id="rId7"/>
    <p:sldId id="258" r:id="rId8"/>
    <p:sldId id="259" r:id="rId9"/>
    <p:sldId id="1670" r:id="rId10"/>
    <p:sldId id="1681" r:id="rId11"/>
    <p:sldId id="1682" r:id="rId12"/>
    <p:sldId id="1684" r:id="rId13"/>
    <p:sldId id="1685" r:id="rId14"/>
    <p:sldId id="1689" r:id="rId15"/>
    <p:sldId id="1690" r:id="rId16"/>
    <p:sldId id="1691" r:id="rId17"/>
    <p:sldId id="1692" r:id="rId18"/>
    <p:sldId id="1693" r:id="rId19"/>
    <p:sldId id="1694" r:id="rId20"/>
    <p:sldId id="1679" r:id="rId21"/>
    <p:sldId id="1680" r:id="rId22"/>
    <p:sldId id="1695" r:id="rId23"/>
    <p:sldId id="1697" r:id="rId24"/>
    <p:sldId id="1698" r:id="rId25"/>
    <p:sldId id="1699" r:id="rId26"/>
    <p:sldId id="1700" r:id="rId27"/>
    <p:sldId id="1701" r:id="rId28"/>
    <p:sldId id="1702" r:id="rId29"/>
    <p:sldId id="1703" r:id="rId30"/>
    <p:sldId id="1704" r:id="rId31"/>
    <p:sldId id="1705" r:id="rId32"/>
    <p:sldId id="1706" r:id="rId33"/>
    <p:sldId id="1707" r:id="rId34"/>
    <p:sldId id="263" r:id="rId35"/>
    <p:sldId id="1708" r:id="rId36"/>
    <p:sldId id="1709" r:id="rId37"/>
    <p:sldId id="1696" r:id="rId38"/>
    <p:sldId id="1710" r:id="rId39"/>
    <p:sldId id="1711" r:id="rId40"/>
    <p:sldId id="1712" r:id="rId41"/>
    <p:sldId id="1713" r:id="rId42"/>
    <p:sldId id="1714" r:id="rId43"/>
    <p:sldId id="1715" r:id="rId44"/>
    <p:sldId id="1716" r:id="rId45"/>
    <p:sldId id="1717" r:id="rId46"/>
    <p:sldId id="265" r:id="rId47"/>
    <p:sldId id="266" r:id="rId48"/>
    <p:sldId id="267" r:id="rId49"/>
    <p:sldId id="268" r:id="rId50"/>
    <p:sldId id="269" r:id="rId51"/>
    <p:sldId id="270" r:id="rId52"/>
    <p:sldId id="1718" r:id="rId53"/>
    <p:sldId id="1719" r:id="rId54"/>
    <p:sldId id="1720" r:id="rId55"/>
    <p:sldId id="1721" r:id="rId56"/>
    <p:sldId id="1722" r:id="rId57"/>
    <p:sldId id="1723" r:id="rId58"/>
    <p:sldId id="1724" r:id="rId59"/>
    <p:sldId id="1725" r:id="rId60"/>
    <p:sldId id="1726" r:id="rId61"/>
    <p:sldId id="1727" r:id="rId62"/>
    <p:sldId id="1683" r:id="rId63"/>
    <p:sldId id="1686" r:id="rId64"/>
  </p:sldIdLst>
  <p:sldSz cx="12192000" cy="6858000"/>
  <p:notesSz cx="6858000" cy="9144000"/>
  <p:custDataLst>
    <p:tags r:id="rId66"/>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8"/>
    <p:restoredTop sz="96327" autoAdjust="0"/>
  </p:normalViewPr>
  <p:slideViewPr>
    <p:cSldViewPr snapToGrid="0">
      <p:cViewPr varScale="1">
        <p:scale>
          <a:sx n="128" d="100"/>
          <a:sy n="128" d="100"/>
        </p:scale>
        <p:origin x="2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gs" Target="tags/tag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2/24/22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github.com/TEALS-IntroCS/2nd-semester-introduction-to-computer-science-principles/raw/master/units/4%20Steps%20to%20Solve%20Any%20CS%20Problem.pdf"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C61DAB-D93E-49CA-B245-379601CFE8D0}" type="datetime8">
              <a:rPr lang="en-US" smtClean="0"/>
              <a:t>2/24/22 9:12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442526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follow the instructions on the Do Now page.</a:t>
            </a:r>
          </a:p>
          <a:p>
            <a:r>
              <a:rPr lang="en-US" dirty="0"/>
              <a:t>Debrief the answers to the questions on the Do Now by calling on students to respond.</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4</a:t>
            </a:fld>
            <a:endParaRPr lang="en-US"/>
          </a:p>
        </p:txBody>
      </p:sp>
    </p:spTree>
    <p:extLst>
      <p:ext uri="{BB962C8B-B14F-4D97-AF65-F5344CB8AC3E}">
        <p14:creationId xmlns:p14="http://schemas.microsoft.com/office/powerpoint/2010/main" val="525226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creating a block in Snap! </a:t>
            </a:r>
          </a:p>
        </p:txBody>
      </p:sp>
      <p:sp>
        <p:nvSpPr>
          <p:cNvPr id="4" name="Slide Number Placeholder 3"/>
          <p:cNvSpPr>
            <a:spLocks noGrp="1"/>
          </p:cNvSpPr>
          <p:nvPr>
            <p:ph type="sldNum" sz="quarter" idx="5"/>
          </p:nvPr>
        </p:nvSpPr>
        <p:spPr/>
        <p:txBody>
          <a:bodyPr/>
          <a:lstStyle/>
          <a:p>
            <a:fld id="{8402DE32-493B-4797-AE32-069E4744FC89}" type="slidenum">
              <a:rPr lang="en-US" smtClean="0"/>
              <a:t>5</a:t>
            </a:fld>
            <a:endParaRPr lang="en-US"/>
          </a:p>
        </p:txBody>
      </p:sp>
    </p:spTree>
    <p:extLst>
      <p:ext uri="{BB962C8B-B14F-4D97-AF65-F5344CB8AC3E}">
        <p14:creationId xmlns:p14="http://schemas.microsoft.com/office/powerpoint/2010/main" val="2306509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Feel free to edit this slide based on the guidance from the curriculum map and the goals for this course. </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6</a:t>
            </a:fld>
            <a:endParaRPr lang="en-US"/>
          </a:p>
        </p:txBody>
      </p:sp>
    </p:spTree>
    <p:extLst>
      <p:ext uri="{BB962C8B-B14F-4D97-AF65-F5344CB8AC3E}">
        <p14:creationId xmlns:p14="http://schemas.microsoft.com/office/powerpoint/2010/main" val="2020088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Feel free to edit this slide based on the guidance from the curriculum map and the goals for this course. </a:t>
            </a:r>
          </a:p>
        </p:txBody>
      </p:sp>
      <p:sp>
        <p:nvSpPr>
          <p:cNvPr id="4" name="Slide Number Placeholder 3"/>
          <p:cNvSpPr>
            <a:spLocks noGrp="1"/>
          </p:cNvSpPr>
          <p:nvPr>
            <p:ph type="sldNum" sz="quarter" idx="5"/>
          </p:nvPr>
        </p:nvSpPr>
        <p:spPr/>
        <p:txBody>
          <a:bodyPr/>
          <a:lstStyle/>
          <a:p>
            <a:fld id="{8402DE32-493B-4797-AE32-069E4744FC89}" type="slidenum">
              <a:rPr lang="en-US" smtClean="0"/>
              <a:t>7</a:t>
            </a:fld>
            <a:endParaRPr lang="en-US"/>
          </a:p>
        </p:txBody>
      </p:sp>
    </p:spTree>
    <p:extLst>
      <p:ext uri="{BB962C8B-B14F-4D97-AF65-F5344CB8AC3E}">
        <p14:creationId xmlns:p14="http://schemas.microsoft.com/office/powerpoint/2010/main" val="3812502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16</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 Do Now</a:t>
            </a:r>
          </a:p>
          <a:p>
            <a:r>
              <a:rPr lang="en-US" dirty="0">
                <a:effectLst/>
              </a:rPr>
              <a:t>10 Minutes - Lesson</a:t>
            </a:r>
          </a:p>
          <a:p>
            <a:r>
              <a:rPr lang="en-US" dirty="0">
                <a:effectLst/>
              </a:rPr>
              <a:t>15 Minutes – Lab Part 2 Discussion</a:t>
            </a:r>
          </a:p>
          <a:p>
            <a:r>
              <a:rPr lang="en-US" dirty="0">
                <a:effectLst/>
              </a:rPr>
              <a:t>20 Minutes – Lab Part 2 Discussion</a:t>
            </a:r>
          </a:p>
          <a:p>
            <a:r>
              <a:rPr lang="en-US" dirty="0">
                <a:effectLst/>
              </a:rPr>
              <a:t>5 Minutes - Debrief</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17</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18</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27</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Day 1</a:t>
            </a:r>
          </a:p>
          <a:p>
            <a:r>
              <a:rPr lang="en-US" dirty="0">
                <a:effectLst/>
              </a:rPr>
              <a:t>5 Minutes - Do Now</a:t>
            </a:r>
          </a:p>
          <a:p>
            <a:r>
              <a:rPr lang="en-US" dirty="0">
                <a:effectLst/>
              </a:rPr>
              <a:t>10 Minutes - Lesson</a:t>
            </a:r>
          </a:p>
          <a:p>
            <a:r>
              <a:rPr lang="en-US" dirty="0">
                <a:effectLst/>
              </a:rPr>
              <a:t>35 Minutes - Lab</a:t>
            </a:r>
          </a:p>
          <a:p>
            <a:r>
              <a:rPr lang="en-US" dirty="0">
                <a:effectLst/>
              </a:rPr>
              <a:t>5 Minutes - Debrief</a:t>
            </a:r>
          </a:p>
        </p:txBody>
      </p:sp>
      <p:sp>
        <p:nvSpPr>
          <p:cNvPr id="4" name="Slide Number Placeholder 3"/>
          <p:cNvSpPr>
            <a:spLocks noGrp="1"/>
          </p:cNvSpPr>
          <p:nvPr>
            <p:ph type="sldNum" sz="quarter" idx="5"/>
          </p:nvPr>
        </p:nvSpPr>
        <p:spPr/>
        <p:txBody>
          <a:bodyPr/>
          <a:lstStyle/>
          <a:p>
            <a:fld id="{8402DE32-493B-4797-AE32-069E4744FC89}" type="slidenum">
              <a:rPr lang="en-US" smtClean="0"/>
              <a:t>28</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answer the questions in their notebook.</a:t>
            </a:r>
          </a:p>
          <a:p>
            <a:endParaRPr lang="en-US" dirty="0"/>
          </a:p>
          <a:p>
            <a:r>
              <a:rPr lang="en-US" dirty="0"/>
              <a:t>Connect Lessons together. </a:t>
            </a:r>
          </a:p>
        </p:txBody>
      </p:sp>
      <p:sp>
        <p:nvSpPr>
          <p:cNvPr id="4" name="Slide Number Placeholder 3"/>
          <p:cNvSpPr>
            <a:spLocks noGrp="1"/>
          </p:cNvSpPr>
          <p:nvPr>
            <p:ph type="sldNum" sz="quarter" idx="5"/>
          </p:nvPr>
        </p:nvSpPr>
        <p:spPr/>
        <p:txBody>
          <a:bodyPr/>
          <a:lstStyle/>
          <a:p>
            <a:fld id="{8402DE32-493B-4797-AE32-069E4744FC89}" type="slidenum">
              <a:rPr lang="en-US" smtClean="0"/>
              <a:t>29</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74af9ee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4af9ee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34" name="Shape 134"/>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dirty="0">
              <a:solidFill>
                <a:schemeClr val="dk1"/>
              </a:solidFill>
              <a:latin typeface="Calibri"/>
              <a:ea typeface="Calibri"/>
              <a:cs typeface="Calibri"/>
              <a:sym typeface="Calibri"/>
            </a:endParaRPr>
          </a:p>
        </p:txBody>
      </p:sp>
      <p:sp>
        <p:nvSpPr>
          <p:cNvPr id="135" name="Shape 135"/>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buSzPct val="25000"/>
                <a:buNone/>
              </a:pPr>
              <a:t>31</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Shape 1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1" name="Shape 14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
        <p:nvSpPr>
          <p:cNvPr id="142" name="Shape 142"/>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pPr lvl="0">
                <a:spcBef>
                  <a:spcPts val="0"/>
                </a:spcBef>
                <a:buClr>
                  <a:srgbClr val="000000"/>
                </a:buClr>
                <a:buSzPct val="25000"/>
                <a:buFont typeface="Arial"/>
                <a:buNone/>
              </a:pPr>
              <a:t>32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76trombones is illegal because it does not begin with a letter. </a:t>
            </a:r>
          </a:p>
          <a:p>
            <a:r>
              <a:rPr lang="en-US" dirty="0"/>
              <a:t>more@ is illegal because it contains an illegal character, @. </a:t>
            </a:r>
          </a:p>
          <a:p>
            <a:r>
              <a:rPr lang="en-US" dirty="0"/>
              <a:t>But what’s wrong with class?</a:t>
            </a:r>
          </a:p>
          <a:p>
            <a:r>
              <a:rPr lang="en-US" dirty="0"/>
              <a:t>It turns out that class is one of Python’s keywords. The interpreter uses keywords to recognize the structure of the program, and they cannot be used as variable names.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buSzPct val="25000"/>
                <a:buNone/>
              </a:pPr>
              <a:t>33</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What does print do?  - similar to say in BYOB</a:t>
            </a:r>
            <a:endParaRPr dirty="0"/>
          </a:p>
        </p:txBody>
      </p:sp>
      <p:sp>
        <p:nvSpPr>
          <p:cNvPr id="148" name="Shape 1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39</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 Do Now</a:t>
            </a:r>
          </a:p>
          <a:p>
            <a:r>
              <a:rPr lang="en-US" dirty="0">
                <a:effectLst/>
              </a:rPr>
              <a:t>20 Minutes - Continue Do Now &amp;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20 Minutes - Magic Genie Lab</a:t>
            </a:r>
          </a:p>
          <a:p>
            <a:r>
              <a:rPr lang="en-US" dirty="0">
                <a:effectLst/>
              </a:rPr>
              <a:t>10 Minutes - Debrief/Quiz Prep</a:t>
            </a:r>
          </a:p>
        </p:txBody>
      </p:sp>
      <p:sp>
        <p:nvSpPr>
          <p:cNvPr id="4" name="Slide Number Placeholder 3"/>
          <p:cNvSpPr>
            <a:spLocks noGrp="1"/>
          </p:cNvSpPr>
          <p:nvPr>
            <p:ph type="sldNum" sz="quarter" idx="5"/>
          </p:nvPr>
        </p:nvSpPr>
        <p:spPr/>
        <p:txBody>
          <a:bodyPr/>
          <a:lstStyle/>
          <a:p>
            <a:fld id="{8402DE32-493B-4797-AE32-069E4744FC89}" type="slidenum">
              <a:rPr lang="en-US" smtClean="0"/>
              <a:t>40</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4d44ceca2d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4d44ceca2d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d44ceca2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4d44ceca2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4d44ceca2d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4d44ceca2d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4d44ceca2d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4d44ceca2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4d44ceca2d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4d44ceca2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4d44ceca2d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4d44ceca2d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49</a:t>
            </a:fld>
            <a:endParaRPr lang="en-US"/>
          </a:p>
        </p:txBody>
      </p:sp>
    </p:spTree>
    <p:extLst>
      <p:ext uri="{BB962C8B-B14F-4D97-AF65-F5344CB8AC3E}">
        <p14:creationId xmlns:p14="http://schemas.microsoft.com/office/powerpoint/2010/main" val="978135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50</a:t>
            </a:fld>
            <a:endParaRPr lang="en-US"/>
          </a:p>
        </p:txBody>
      </p:sp>
    </p:spTree>
    <p:extLst>
      <p:ext uri="{BB962C8B-B14F-4D97-AF65-F5344CB8AC3E}">
        <p14:creationId xmlns:p14="http://schemas.microsoft.com/office/powerpoint/2010/main" val="3770122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54</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Welcome and Review</a:t>
            </a:r>
          </a:p>
          <a:p>
            <a:r>
              <a:rPr lang="en-US" dirty="0">
                <a:effectLst/>
              </a:rPr>
              <a:t>25 Minutes Quiz</a:t>
            </a:r>
          </a:p>
          <a:p>
            <a:r>
              <a:rPr lang="en-US" dirty="0">
                <a:effectLst/>
              </a:rPr>
              <a:t>25 Minutes Debugging Activity</a:t>
            </a:r>
          </a:p>
        </p:txBody>
      </p:sp>
      <p:sp>
        <p:nvSpPr>
          <p:cNvPr id="4" name="Slide Number Placeholder 3"/>
          <p:cNvSpPr>
            <a:spLocks noGrp="1"/>
          </p:cNvSpPr>
          <p:nvPr>
            <p:ph type="sldNum" sz="quarter" idx="5"/>
          </p:nvPr>
        </p:nvSpPr>
        <p:spPr/>
        <p:txBody>
          <a:bodyPr/>
          <a:lstStyle/>
          <a:p>
            <a:fld id="{8402DE32-493B-4797-AE32-069E4744FC89}" type="slidenum">
              <a:rPr lang="en-US" smtClean="0"/>
              <a:t>55</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 Steps to Solve Any CS Problem</a:t>
            </a:r>
            <a:endParaRPr lang="en-US" dirty="0"/>
          </a:p>
          <a:p>
            <a:r>
              <a:rPr lang="en-US" dirty="0"/>
              <a:t>Remind students of the </a:t>
            </a:r>
            <a:r>
              <a:rPr lang="en-US" sz="1200" kern="1200" dirty="0">
                <a:solidFill>
                  <a:schemeClr val="tx1"/>
                </a:solidFill>
                <a:effectLst/>
                <a:latin typeface="+mn-lt"/>
                <a:ea typeface="+mn-ea"/>
                <a:cs typeface="+mn-cs"/>
                <a:hlinkClick r:id="rId3"/>
              </a:rPr>
              <a:t>4 Steps to Solve Any CS Problem</a:t>
            </a:r>
            <a:endParaRPr lang="en-US" dirty="0"/>
          </a:p>
          <a:p>
            <a:r>
              <a:rPr lang="en-US" b="1" dirty="0"/>
              <a:t>Project Overview</a:t>
            </a:r>
            <a:endParaRPr lang="en-US" dirty="0"/>
          </a:p>
          <a:p>
            <a:r>
              <a:rPr lang="en-US" dirty="0"/>
              <a:t>Demo the Oregon Trail finished project.</a:t>
            </a:r>
          </a:p>
          <a:p>
            <a:r>
              <a:rPr lang="en-US" dirty="0"/>
              <a:t>Give out the project spec and go over game rules.</a:t>
            </a:r>
          </a:p>
          <a:p>
            <a:r>
              <a:rPr lang="en-US" b="1" dirty="0"/>
              <a:t>Planning</a:t>
            </a:r>
            <a:endParaRPr lang="en-US" dirty="0"/>
          </a:p>
          <a:p>
            <a:r>
              <a:rPr lang="en-US" dirty="0"/>
              <a:t>Have students draw out the game play. </a:t>
            </a:r>
          </a:p>
          <a:p>
            <a:r>
              <a:rPr lang="en-US" dirty="0"/>
              <a:t>Students should plan to create functions for each user interaction by figuring out where the repeated code will be. </a:t>
            </a:r>
          </a:p>
          <a:p>
            <a:r>
              <a:rPr lang="en-US" dirty="0"/>
              <a:t>Students should list out which variables they will need.</a:t>
            </a:r>
          </a:p>
          <a:p>
            <a:r>
              <a:rPr lang="en-US" dirty="0"/>
              <a:t>Have students plan out their next 7 days. Suggested timeline/checkpoints below: </a:t>
            </a:r>
          </a:p>
          <a:p>
            <a:r>
              <a:rPr lang="en-US" dirty="0"/>
              <a:t>Set up user inputs with dummy functions, make sure game loop works</a:t>
            </a:r>
          </a:p>
          <a:p>
            <a:r>
              <a:rPr lang="en-US" dirty="0"/>
              <a:t>Create variables necessary to run the game, start implementing basic functions</a:t>
            </a:r>
          </a:p>
          <a:p>
            <a:r>
              <a:rPr lang="en-US" dirty="0"/>
              <a:t>Focus on the random functions</a:t>
            </a:r>
          </a:p>
          <a:p>
            <a:r>
              <a:rPr lang="en-US" dirty="0"/>
              <a:t>Figure out how to move the days</a:t>
            </a:r>
          </a:p>
          <a:p>
            <a:r>
              <a:rPr lang="en-US" dirty="0"/>
              <a:t>Finish day updating </a:t>
            </a:r>
          </a:p>
          <a:p>
            <a:r>
              <a:rPr lang="en-US" dirty="0"/>
              <a:t>Connect functions together</a:t>
            </a:r>
          </a:p>
          <a:p>
            <a:r>
              <a:rPr lang="en-US" dirty="0"/>
              <a:t>Wrap up and game over check is correct</a:t>
            </a:r>
          </a:p>
          <a:p>
            <a:endParaRPr lang="en-US" dirty="0"/>
          </a:p>
          <a:p>
            <a:r>
              <a:rPr lang="en-US" b="1" dirty="0"/>
              <a:t>Accommodation/Differentiation</a:t>
            </a:r>
          </a:p>
          <a:p>
            <a:r>
              <a:rPr lang="en-US" dirty="0"/>
              <a:t>Advanced students can add in random events like cholera or snake bites. Students can also have a list of travelers instead of just 1, where each traveler is affected differently by each action.</a:t>
            </a:r>
          </a:p>
          <a:p>
            <a:r>
              <a:rPr lang="en-US" dirty="0"/>
              <a:t>The planning phase of this project will be essential, especially for students who you think may struggle with this project. Provide more guidance and scaffolding to those students that need it.</a:t>
            </a:r>
          </a:p>
          <a:p>
            <a:endParaRPr lang="en-US" b="1" dirty="0"/>
          </a:p>
        </p:txBody>
      </p:sp>
      <p:sp>
        <p:nvSpPr>
          <p:cNvPr id="4" name="Slide Number Placeholder 3"/>
          <p:cNvSpPr>
            <a:spLocks noGrp="1"/>
          </p:cNvSpPr>
          <p:nvPr>
            <p:ph type="sldNum" sz="quarter" idx="5"/>
          </p:nvPr>
        </p:nvSpPr>
        <p:spPr/>
        <p:txBody>
          <a:bodyPr/>
          <a:lstStyle/>
          <a:p>
            <a:fld id="{8402DE32-493B-4797-AE32-069E4744FC89}" type="slidenum">
              <a:rPr lang="en-US" smtClean="0"/>
              <a:t>56</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solidFill>
                  <a:srgbClr val="000000"/>
                </a:solidFill>
                <a:effectLst/>
                <a:latin typeface="Courier New" panose="02070309020205020404" pitchFamily="49" charset="0"/>
              </a:rPr>
              <a:t>favorite_number_str</a:t>
            </a:r>
            <a:r>
              <a:rPr lang="en-US" b="0" dirty="0">
                <a:solidFill>
                  <a:srgbClr val="000000"/>
                </a:solidFill>
                <a:effectLst/>
                <a:latin typeface="Courier New" panose="02070309020205020404" pitchFamily="49" charset="0"/>
              </a:rPr>
              <a:t>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"What is your favorite number: "</a:t>
            </a:r>
            <a:r>
              <a:rPr lang="en-US" b="0" dirty="0">
                <a:solidFill>
                  <a:srgbClr val="000000"/>
                </a:solidFill>
                <a:effectLst/>
                <a:latin typeface="Courier New" panose="02070309020205020404" pitchFamily="49" charset="0"/>
              </a:rPr>
              <a:t>)</a:t>
            </a:r>
          </a:p>
          <a:p>
            <a:r>
              <a:rPr lang="en-US" b="0" dirty="0" err="1">
                <a:solidFill>
                  <a:srgbClr val="000000"/>
                </a:solidFill>
                <a:effectLst/>
                <a:latin typeface="Courier New" panose="02070309020205020404" pitchFamily="49" charset="0"/>
              </a:rPr>
              <a:t>birth_month_str</a:t>
            </a:r>
            <a:r>
              <a:rPr lang="en-US" b="0" dirty="0">
                <a:solidFill>
                  <a:srgbClr val="000000"/>
                </a:solidFill>
                <a:effectLst/>
                <a:latin typeface="Courier New" panose="02070309020205020404" pitchFamily="49" charset="0"/>
              </a:rPr>
              <a:t>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"What month where you born in: "</a:t>
            </a:r>
            <a:r>
              <a:rPr lang="en-US" b="0" dirty="0">
                <a:solidFill>
                  <a:srgbClr val="000000"/>
                </a:solidFill>
                <a:effectLst/>
                <a:latin typeface="Courier New" panose="02070309020205020404" pitchFamily="49" charset="0"/>
              </a:rPr>
              <a:t>)</a:t>
            </a:r>
          </a:p>
          <a:p>
            <a:r>
              <a:rPr lang="en-US" b="0" dirty="0" err="1">
                <a:solidFill>
                  <a:srgbClr val="000000"/>
                </a:solidFill>
                <a:effectLst/>
                <a:latin typeface="Courier New" panose="02070309020205020404" pitchFamily="49" charset="0"/>
              </a:rPr>
              <a:t>lucky_number</a:t>
            </a:r>
            <a:r>
              <a:rPr lang="en-US" b="0" dirty="0">
                <a:solidFill>
                  <a:srgbClr val="000000"/>
                </a:solidFill>
                <a:effectLst/>
                <a:latin typeface="Courier New" panose="02070309020205020404" pitchFamily="49" charset="0"/>
              </a:rPr>
              <a:t> = </a:t>
            </a:r>
            <a:r>
              <a:rPr lang="en-US" b="0" dirty="0">
                <a:solidFill>
                  <a:srgbClr val="267F99"/>
                </a:solidFill>
                <a:effectLst/>
                <a:latin typeface="Courier New" panose="02070309020205020404" pitchFamily="49" charset="0"/>
              </a:rPr>
              <a:t>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favorite_number_str</a:t>
            </a:r>
            <a:r>
              <a:rPr lang="en-US" b="0" dirty="0">
                <a:solidFill>
                  <a:srgbClr val="000000"/>
                </a:solidFill>
                <a:effectLst/>
                <a:latin typeface="Courier New" panose="02070309020205020404" pitchFamily="49" charset="0"/>
              </a:rPr>
              <a:t>) + </a:t>
            </a:r>
            <a:r>
              <a:rPr lang="en-US" b="0" dirty="0">
                <a:solidFill>
                  <a:srgbClr val="267F99"/>
                </a:solidFill>
                <a:effectLst/>
                <a:latin typeface="Courier New" panose="02070309020205020404" pitchFamily="49" charset="0"/>
              </a:rPr>
              <a:t>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birth_month_str</a:t>
            </a:r>
            <a:r>
              <a:rPr lang="en-US" b="0" dirty="0">
                <a:solidFill>
                  <a:srgbClr val="000000"/>
                </a:solidFill>
                <a:effectLst/>
                <a:latin typeface="Courier New" panose="02070309020205020404" pitchFamily="49" charset="0"/>
              </a:rPr>
              <a:t>)</a:t>
            </a: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"Your lucky number is "</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lucky_number</a:t>
            </a:r>
            <a:r>
              <a:rPr lang="en-US" b="0" dirty="0">
                <a:solidFill>
                  <a:srgbClr val="000000"/>
                </a:solidFill>
                <a:effectLst/>
                <a:latin typeface="Courier New" panose="02070309020205020404" pitchFamily="49" charset="0"/>
              </a:rPr>
              <a:t>)</a:t>
            </a:r>
          </a:p>
          <a:p>
            <a:endParaRPr lang="en-US" b="0" dirty="0">
              <a:solidFill>
                <a:srgbClr val="000000"/>
              </a:solidFill>
              <a:effectLst/>
              <a:latin typeface="Courier New" panose="02070309020205020404" pitchFamily="49" charset="0"/>
            </a:endParaRP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58</a:t>
            </a:fld>
            <a:endParaRPr lang="en-US"/>
          </a:p>
        </p:txBody>
      </p:sp>
    </p:spTree>
    <p:extLst>
      <p:ext uri="{BB962C8B-B14F-4D97-AF65-F5344CB8AC3E}">
        <p14:creationId xmlns:p14="http://schemas.microsoft.com/office/powerpoint/2010/main" val="13404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2/24/22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2/24/22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image" Target="../media/image1.emf"/><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heme" Target="../theme/theme2.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5.xml"/><Relationship Id="rId5" Type="http://schemas.openxmlformats.org/officeDocument/2006/relationships/image" Target="../media/image21.png"/><Relationship Id="rId4" Type="http://schemas.openxmlformats.org/officeDocument/2006/relationships/hyperlink" Target="https://colab.research.google.com/"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9.xml"/><Relationship Id="rId5" Type="http://schemas.openxmlformats.org/officeDocument/2006/relationships/image" Target="../media/image24.jpe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1.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hyperlink" Target="https://tealsk12.github.io/2nd-semester-introduction-to-computer-science/readings.md.html"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1.xml"/><Relationship Id="rId1" Type="http://schemas.openxmlformats.org/officeDocument/2006/relationships/tags" Target="../tags/tag1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9.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2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hyperlink" Target="https://runestone.academy/ns/books/published/thinkcspy/Debugging/KnowyourerrorMessages.html"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4B47"/>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584200" y="2979778"/>
            <a:ext cx="9144000" cy="553998"/>
          </a:xfrm>
        </p:spPr>
        <p:txBody>
          <a:bodyPr/>
          <a:lstStyle/>
          <a:p>
            <a:r>
              <a:rPr lang="en-US" dirty="0">
                <a:cs typeface="Segoe UI"/>
              </a:rPr>
              <a:t>Lesson: 1.01 Setup</a:t>
            </a:r>
            <a:endParaRPr lang="en-US" dirty="0"/>
          </a:p>
        </p:txBody>
      </p:sp>
      <p:sp>
        <p:nvSpPr>
          <p:cNvPr id="5" name="Text Placeholder 4"/>
          <p:cNvSpPr>
            <a:spLocks noGrp="1"/>
          </p:cNvSpPr>
          <p:nvPr>
            <p:ph type="body" sz="quarter" idx="12"/>
          </p:nvPr>
        </p:nvSpPr>
        <p:spPr>
          <a:xfrm>
            <a:off x="584200" y="3962400"/>
            <a:ext cx="9144000" cy="677108"/>
          </a:xfrm>
        </p:spPr>
        <p:txBody>
          <a:bodyPr vert="horz" wrap="square" lIns="0" tIns="0" rIns="0" bIns="0" rtlCol="0" anchor="t">
            <a:spAutoFit/>
          </a:bodyPr>
          <a:lstStyle/>
          <a:p>
            <a:r>
              <a:rPr lang="en-US" dirty="0">
                <a:cs typeface="Segoe UI"/>
              </a:rPr>
              <a:t>Microsoft Philanthropies TEALS Program</a:t>
            </a:r>
          </a:p>
          <a:p>
            <a:r>
              <a:rPr lang="en-US" dirty="0">
                <a:cs typeface="Segoe UI"/>
              </a:rPr>
              <a:t>Introduction to computer science</a:t>
            </a:r>
          </a:p>
        </p:txBody>
      </p:sp>
      <p:pic>
        <p:nvPicPr>
          <p:cNvPr id="7" name="Picture 6"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4"/>
          <a:stretch>
            <a:fillRect/>
          </a:stretch>
        </p:blipFill>
        <p:spPr>
          <a:xfrm>
            <a:off x="9002536" y="6372049"/>
            <a:ext cx="3105150" cy="390525"/>
          </a:xfrm>
          <a:prstGeom prst="rect">
            <a:avLst/>
          </a:prstGeom>
        </p:spPr>
      </p:pic>
    </p:spTree>
    <p:custDataLst>
      <p:tags r:id="rId1"/>
    </p:custDataLst>
    <p:extLst>
      <p:ext uri="{BB962C8B-B14F-4D97-AF65-F5344CB8AC3E}">
        <p14:creationId xmlns:p14="http://schemas.microsoft.com/office/powerpoint/2010/main" val="179507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C87BAD-7C0C-4CCE-A8E1-1CA98374BE5F}"/>
              </a:ext>
            </a:extLst>
          </p:cNvPr>
          <p:cNvSpPr>
            <a:spLocks noGrp="1"/>
          </p:cNvSpPr>
          <p:nvPr>
            <p:ph type="title"/>
          </p:nvPr>
        </p:nvSpPr>
        <p:spPr/>
        <p:txBody>
          <a:bodyPr/>
          <a:lstStyle/>
          <a:p>
            <a:r>
              <a:rPr lang="en-US" dirty="0">
                <a:cs typeface="Segoe UI"/>
              </a:rPr>
              <a:t>Setup</a:t>
            </a:r>
            <a:endParaRPr lang="en-US" dirty="0"/>
          </a:p>
        </p:txBody>
      </p:sp>
      <p:sp>
        <p:nvSpPr>
          <p:cNvPr id="5" name="Text Placeholder 4">
            <a:extLst>
              <a:ext uri="{FF2B5EF4-FFF2-40B4-BE49-F238E27FC236}">
                <a16:creationId xmlns:a16="http://schemas.microsoft.com/office/drawing/2014/main" id="{CF38BE80-8D98-4541-ACA0-74922D879A6A}"/>
              </a:ext>
            </a:extLst>
          </p:cNvPr>
          <p:cNvSpPr>
            <a:spLocks noGrp="1"/>
          </p:cNvSpPr>
          <p:nvPr>
            <p:ph sz="quarter" idx="10"/>
          </p:nvPr>
        </p:nvSpPr>
        <p:spPr>
          <a:xfrm>
            <a:off x="584200" y="1435100"/>
            <a:ext cx="11120120" cy="1982081"/>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a:t>
            </a:r>
            <a:r>
              <a:rPr lang="en-US" b="1" dirty="0"/>
              <a:t> Python </a:t>
            </a:r>
            <a:r>
              <a:rPr lang="en-US" dirty="0"/>
              <a:t>and</a:t>
            </a:r>
            <a:r>
              <a:rPr lang="en-US" b="1" dirty="0"/>
              <a:t> </a:t>
            </a:r>
            <a:r>
              <a:rPr lang="en-US" b="1" dirty="0" err="1"/>
              <a:t>Jupyter</a:t>
            </a:r>
            <a:r>
              <a:rPr lang="en-US" b="1" dirty="0"/>
              <a:t> Notebooks</a:t>
            </a:r>
          </a:p>
          <a:p>
            <a:pPr marL="342900" indent="-342900">
              <a:buFont typeface="Arial" panose="020B0604020202020204" pitchFamily="34" charset="0"/>
              <a:buChar char="•"/>
            </a:pPr>
            <a:r>
              <a:rPr lang="en-US" dirty="0"/>
              <a:t>Identify the key concepts that will be covered in the course</a:t>
            </a:r>
          </a:p>
          <a:p>
            <a:pPr marL="342900" indent="-342900">
              <a:buFont typeface="Arial" panose="020B0604020202020204" pitchFamily="34" charset="0"/>
              <a:buChar char="•"/>
            </a:pPr>
            <a:r>
              <a:rPr lang="en-US" dirty="0"/>
              <a:t>Create, save and share a </a:t>
            </a:r>
            <a:r>
              <a:rPr lang="en-US" dirty="0" err="1"/>
              <a:t>Jupyter</a:t>
            </a:r>
            <a:r>
              <a:rPr lang="en-US" dirty="0"/>
              <a:t> Notebook in </a:t>
            </a:r>
            <a:r>
              <a:rPr lang="en-US" b="1" dirty="0"/>
              <a:t>Google </a:t>
            </a:r>
            <a:r>
              <a:rPr lang="en-US" b="1" dirty="0" err="1"/>
              <a:t>Colab</a:t>
            </a:r>
            <a:endParaRPr lang="en-US" dirty="0"/>
          </a:p>
        </p:txBody>
      </p:sp>
    </p:spTree>
    <p:custDataLst>
      <p:tags r:id="rId1"/>
    </p:custDataLst>
    <p:extLst>
      <p:ext uri="{BB962C8B-B14F-4D97-AF65-F5344CB8AC3E}">
        <p14:creationId xmlns:p14="http://schemas.microsoft.com/office/powerpoint/2010/main" val="20433309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03145-BA9F-42DF-A164-6FCD022D9DC7}"/>
              </a:ext>
            </a:extLst>
          </p:cNvPr>
          <p:cNvSpPr>
            <a:spLocks noGrp="1"/>
          </p:cNvSpPr>
          <p:nvPr>
            <p:ph type="title"/>
          </p:nvPr>
        </p:nvSpPr>
        <p:spPr>
          <a:xfrm>
            <a:off x="584200" y="2305840"/>
            <a:ext cx="3468956" cy="1107996"/>
          </a:xfrm>
        </p:spPr>
        <p:txBody>
          <a:bodyPr/>
          <a:lstStyle/>
          <a:p>
            <a:r>
              <a:rPr lang="en-US" dirty="0"/>
              <a:t>Today’s plan</a:t>
            </a:r>
            <a:br>
              <a:rPr lang="en-US" dirty="0"/>
            </a:br>
            <a:endParaRPr lang="en-US" dirty="0"/>
          </a:p>
        </p:txBody>
      </p:sp>
      <p:sp>
        <p:nvSpPr>
          <p:cNvPr id="5" name="Text Placeholder 4">
            <a:extLst>
              <a:ext uri="{FF2B5EF4-FFF2-40B4-BE49-F238E27FC236}">
                <a16:creationId xmlns:a16="http://schemas.microsoft.com/office/drawing/2014/main" id="{7646F990-C6FF-4AD8-BC0E-F889E8C0E1F3}"/>
              </a:ext>
            </a:extLst>
          </p:cNvPr>
          <p:cNvSpPr>
            <a:spLocks noGrp="1"/>
          </p:cNvSpPr>
          <p:nvPr>
            <p:ph type="body" sz="quarter" idx="10"/>
          </p:nvPr>
        </p:nvSpPr>
        <p:spPr>
          <a:xfrm>
            <a:off x="4646104" y="2447038"/>
            <a:ext cx="6961188" cy="1563505"/>
          </a:xfrm>
        </p:spPr>
        <p:txBody>
          <a:bodyPr/>
          <a:lstStyle/>
          <a:p>
            <a:r>
              <a:rPr lang="en-US" dirty="0"/>
              <a:t>Do now</a:t>
            </a:r>
          </a:p>
          <a:p>
            <a:r>
              <a:rPr lang="en-US" dirty="0"/>
              <a:t>Syllabus</a:t>
            </a:r>
          </a:p>
          <a:p>
            <a:r>
              <a:rPr lang="en-US" dirty="0"/>
              <a:t>Python and text editor introduction</a:t>
            </a:r>
          </a:p>
        </p:txBody>
      </p:sp>
    </p:spTree>
    <p:custDataLst>
      <p:tags r:id="rId1"/>
    </p:custDataLst>
    <p:extLst>
      <p:ext uri="{BB962C8B-B14F-4D97-AF65-F5344CB8AC3E}">
        <p14:creationId xmlns:p14="http://schemas.microsoft.com/office/powerpoint/2010/main" val="373220500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6973AF-ADB8-4670-8192-D16C970FA0B3}"/>
              </a:ext>
            </a:extLst>
          </p:cNvPr>
          <p:cNvSpPr>
            <a:spLocks noGrp="1"/>
          </p:cNvSpPr>
          <p:nvPr>
            <p:ph type="title"/>
          </p:nvPr>
        </p:nvSpPr>
        <p:spPr>
          <a:xfrm>
            <a:off x="588263" y="457200"/>
            <a:ext cx="11018520" cy="553998"/>
          </a:xfrm>
        </p:spPr>
        <p:txBody>
          <a:bodyPr/>
          <a:lstStyle/>
          <a:p>
            <a:r>
              <a:rPr lang="en-US" dirty="0"/>
              <a:t>Do now</a:t>
            </a:r>
          </a:p>
        </p:txBody>
      </p:sp>
      <p:sp>
        <p:nvSpPr>
          <p:cNvPr id="5" name="Content Placeholder 4">
            <a:extLst>
              <a:ext uri="{FF2B5EF4-FFF2-40B4-BE49-F238E27FC236}">
                <a16:creationId xmlns:a16="http://schemas.microsoft.com/office/drawing/2014/main" id="{AF67AE47-7C9B-493E-B2B7-09A6CF5564D2}"/>
              </a:ext>
            </a:extLst>
          </p:cNvPr>
          <p:cNvSpPr>
            <a:spLocks noGrp="1"/>
          </p:cNvSpPr>
          <p:nvPr>
            <p:ph sz="quarter" idx="10"/>
          </p:nvPr>
        </p:nvSpPr>
        <p:spPr>
          <a:xfrm>
            <a:off x="588263" y="1181549"/>
            <a:ext cx="11018838" cy="276999"/>
          </a:xfrm>
        </p:spPr>
        <p:txBody>
          <a:bodyPr/>
          <a:lstStyle/>
          <a:p>
            <a:pPr marL="0" marR="0" indent="0">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Go to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https://colab.research.google.com/</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choose “New Notebook” at the bottom.</a:t>
            </a:r>
          </a:p>
        </p:txBody>
      </p:sp>
      <p:pic>
        <p:nvPicPr>
          <p:cNvPr id="6" name="Picture 5" descr="Graphical user interface&#10;&#10;Description automatically generated">
            <a:extLst>
              <a:ext uri="{FF2B5EF4-FFF2-40B4-BE49-F238E27FC236}">
                <a16:creationId xmlns:a16="http://schemas.microsoft.com/office/drawing/2014/main" id="{9DD2C947-9207-F14A-8E9F-B5F4DCB3F4FF}"/>
              </a:ext>
            </a:extLst>
          </p:cNvPr>
          <p:cNvPicPr>
            <a:picLocks noChangeAspect="1"/>
          </p:cNvPicPr>
          <p:nvPr/>
        </p:nvPicPr>
        <p:blipFill>
          <a:blip r:embed="rId5"/>
          <a:stretch>
            <a:fillRect/>
          </a:stretch>
        </p:blipFill>
        <p:spPr>
          <a:xfrm>
            <a:off x="911134" y="1640900"/>
            <a:ext cx="9800771" cy="5014519"/>
          </a:xfrm>
          <a:prstGeom prst="rect">
            <a:avLst/>
          </a:prstGeom>
        </p:spPr>
      </p:pic>
      <p:sp>
        <p:nvSpPr>
          <p:cNvPr id="7" name="Rectangle 6">
            <a:extLst>
              <a:ext uri="{FF2B5EF4-FFF2-40B4-BE49-F238E27FC236}">
                <a16:creationId xmlns:a16="http://schemas.microsoft.com/office/drawing/2014/main" id="{5F2708DA-D849-5F4F-8776-A9905E86E3AD}"/>
              </a:ext>
            </a:extLst>
          </p:cNvPr>
          <p:cNvSpPr/>
          <p:nvPr/>
        </p:nvSpPr>
        <p:spPr>
          <a:xfrm>
            <a:off x="7106194" y="5577839"/>
            <a:ext cx="711201" cy="182879"/>
          </a:xfrm>
          <a:prstGeom prst="rect">
            <a:avLst/>
          </a:prstGeom>
          <a:noFill/>
          <a:ln w="539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custDataLst>
      <p:tags r:id="rId1"/>
    </p:custDataLst>
    <p:extLst>
      <p:ext uri="{BB962C8B-B14F-4D97-AF65-F5344CB8AC3E}">
        <p14:creationId xmlns:p14="http://schemas.microsoft.com/office/powerpoint/2010/main" val="34057354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94B6-D3DB-48EA-A315-A0C9F622734F}"/>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F42C2763-9D66-42CF-A524-37B57727F695}"/>
              </a:ext>
            </a:extLst>
          </p:cNvPr>
          <p:cNvSpPr>
            <a:spLocks noGrp="1"/>
          </p:cNvSpPr>
          <p:nvPr>
            <p:ph sz="quarter" idx="10"/>
          </p:nvPr>
        </p:nvSpPr>
        <p:spPr>
          <a:xfrm>
            <a:off x="584200" y="1435100"/>
            <a:ext cx="11018838" cy="2930033"/>
          </a:xfrm>
        </p:spPr>
        <p:txBody>
          <a:bodyPr/>
          <a:lstStyle/>
          <a:p>
            <a:r>
              <a:rPr lang="en-US" dirty="0"/>
              <a:t>Goals for this course</a:t>
            </a:r>
          </a:p>
          <a:p>
            <a:pPr lvl="1"/>
            <a:r>
              <a:rPr lang="en-US" sz="2800" dirty="0"/>
              <a:t>Create functioning Python programs</a:t>
            </a:r>
          </a:p>
          <a:p>
            <a:pPr lvl="1"/>
            <a:r>
              <a:rPr lang="en-US" sz="2800" dirty="0"/>
              <a:t>Learn to use basic data types</a:t>
            </a:r>
          </a:p>
          <a:p>
            <a:pPr lvl="1"/>
            <a:r>
              <a:rPr lang="en-US" sz="2800" dirty="0"/>
              <a:t>Earn to use a text-based language</a:t>
            </a:r>
          </a:p>
          <a:p>
            <a:r>
              <a:rPr lang="en-US" dirty="0"/>
              <a:t>Present demo of a program written in Python to hook students and to give them an idea of what they will be working with</a:t>
            </a:r>
          </a:p>
        </p:txBody>
      </p:sp>
    </p:spTree>
    <p:custDataLst>
      <p:tags r:id="rId1"/>
    </p:custDataLst>
    <p:extLst>
      <p:ext uri="{BB962C8B-B14F-4D97-AF65-F5344CB8AC3E}">
        <p14:creationId xmlns:p14="http://schemas.microsoft.com/office/powerpoint/2010/main" val="133791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9512-E962-4677-863F-5552476C5AE1}"/>
              </a:ext>
            </a:extLst>
          </p:cNvPr>
          <p:cNvSpPr>
            <a:spLocks noGrp="1"/>
          </p:cNvSpPr>
          <p:nvPr>
            <p:ph type="title"/>
          </p:nvPr>
        </p:nvSpPr>
        <p:spPr/>
        <p:txBody>
          <a:bodyPr/>
          <a:lstStyle/>
          <a:p>
            <a:r>
              <a:rPr lang="en-US" dirty="0"/>
              <a:t>Overview of this course</a:t>
            </a:r>
          </a:p>
        </p:txBody>
      </p:sp>
      <p:sp>
        <p:nvSpPr>
          <p:cNvPr id="3" name="Content Placeholder 2">
            <a:extLst>
              <a:ext uri="{FF2B5EF4-FFF2-40B4-BE49-F238E27FC236}">
                <a16:creationId xmlns:a16="http://schemas.microsoft.com/office/drawing/2014/main" id="{7A2E9C2F-508B-4B42-83A0-EE71D08F7B6B}"/>
              </a:ext>
            </a:extLst>
          </p:cNvPr>
          <p:cNvSpPr>
            <a:spLocks noGrp="1"/>
          </p:cNvSpPr>
          <p:nvPr>
            <p:ph sz="quarter" idx="10"/>
          </p:nvPr>
        </p:nvSpPr>
        <p:spPr>
          <a:xfrm>
            <a:off x="584200" y="1435100"/>
            <a:ext cx="11018838" cy="3902607"/>
          </a:xfrm>
        </p:spPr>
        <p:txBody>
          <a:bodyPr/>
          <a:lstStyle/>
          <a:p>
            <a:pPr fontAlgn="base"/>
            <a:r>
              <a:rPr lang="en-US" dirty="0"/>
              <a:t>The major topics covered in this course are as follows:</a:t>
            </a:r>
          </a:p>
          <a:p>
            <a:pPr lvl="1" fontAlgn="base"/>
            <a:r>
              <a:rPr lang="en-US" dirty="0"/>
              <a:t>Variables</a:t>
            </a:r>
          </a:p>
          <a:p>
            <a:pPr lvl="1" fontAlgn="base"/>
            <a:r>
              <a:rPr lang="en-US" dirty="0"/>
              <a:t>Conditionals</a:t>
            </a:r>
          </a:p>
          <a:p>
            <a:pPr lvl="1" fontAlgn="base"/>
            <a:r>
              <a:rPr lang="en-US" dirty="0"/>
              <a:t>Loops</a:t>
            </a:r>
          </a:p>
          <a:p>
            <a:pPr lvl="1" fontAlgn="base"/>
            <a:r>
              <a:rPr lang="en-US" dirty="0"/>
              <a:t>Functions (user-defined and built-in)</a:t>
            </a:r>
          </a:p>
          <a:p>
            <a:pPr lvl="1" fontAlgn="base"/>
            <a:r>
              <a:rPr lang="en-US" dirty="0"/>
              <a:t>Lists</a:t>
            </a:r>
          </a:p>
          <a:p>
            <a:pPr lvl="1" fontAlgn="base"/>
            <a:r>
              <a:rPr lang="en-US" dirty="0"/>
              <a:t>Classes and objects</a:t>
            </a:r>
          </a:p>
          <a:p>
            <a:pPr lvl="1" fontAlgn="base"/>
            <a:r>
              <a:rPr lang="en-US" dirty="0"/>
              <a:t>Dictionaries</a:t>
            </a:r>
          </a:p>
          <a:p>
            <a:pPr lvl="1" fontAlgn="base"/>
            <a:r>
              <a:rPr lang="en-US" dirty="0"/>
              <a:t>Music programming</a:t>
            </a:r>
          </a:p>
          <a:p>
            <a:endParaRPr lang="en-US" dirty="0"/>
          </a:p>
        </p:txBody>
      </p:sp>
    </p:spTree>
    <p:custDataLst>
      <p:tags r:id="rId1"/>
    </p:custDataLst>
    <p:extLst>
      <p:ext uri="{BB962C8B-B14F-4D97-AF65-F5344CB8AC3E}">
        <p14:creationId xmlns:p14="http://schemas.microsoft.com/office/powerpoint/2010/main" val="36875638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BEC17-088E-40E0-BFBE-89BEF8D730CB}"/>
              </a:ext>
            </a:extLst>
          </p:cNvPr>
          <p:cNvSpPr>
            <a:spLocks noGrp="1"/>
          </p:cNvSpPr>
          <p:nvPr>
            <p:ph type="title"/>
          </p:nvPr>
        </p:nvSpPr>
        <p:spPr/>
        <p:txBody>
          <a:bodyPr/>
          <a:lstStyle/>
          <a:p>
            <a:r>
              <a:rPr lang="en-US" dirty="0"/>
              <a:t>Lab Projects</a:t>
            </a:r>
          </a:p>
        </p:txBody>
      </p:sp>
      <p:sp>
        <p:nvSpPr>
          <p:cNvPr id="3" name="Content Placeholder 2">
            <a:extLst>
              <a:ext uri="{FF2B5EF4-FFF2-40B4-BE49-F238E27FC236}">
                <a16:creationId xmlns:a16="http://schemas.microsoft.com/office/drawing/2014/main" id="{934E8D55-9764-4B61-A1DE-0385F9863DE2}"/>
              </a:ext>
            </a:extLst>
          </p:cNvPr>
          <p:cNvSpPr>
            <a:spLocks noGrp="1"/>
          </p:cNvSpPr>
          <p:nvPr>
            <p:ph sz="quarter" idx="10"/>
          </p:nvPr>
        </p:nvSpPr>
        <p:spPr>
          <a:xfrm>
            <a:off x="584200" y="1435100"/>
            <a:ext cx="11018838" cy="4628960"/>
          </a:xfrm>
        </p:spPr>
        <p:txBody>
          <a:bodyPr/>
          <a:lstStyle/>
          <a:p>
            <a:pPr fontAlgn="base"/>
            <a:r>
              <a:rPr lang="en-US" sz="3200" dirty="0"/>
              <a:t>Unit 1: </a:t>
            </a:r>
            <a:r>
              <a:rPr lang="en-US" sz="3200" dirty="0" err="1"/>
              <a:t>MadLibs</a:t>
            </a:r>
            <a:endParaRPr lang="en-US" sz="3200" dirty="0"/>
          </a:p>
          <a:p>
            <a:pPr fontAlgn="base"/>
            <a:r>
              <a:rPr lang="en-US" sz="3200" dirty="0"/>
              <a:t>Unit 2: Text adventure game</a:t>
            </a:r>
          </a:p>
          <a:p>
            <a:pPr fontAlgn="base"/>
            <a:r>
              <a:rPr lang="en-US" sz="3200" dirty="0"/>
              <a:t>Unit 3: Oregon trail game</a:t>
            </a:r>
          </a:p>
          <a:p>
            <a:pPr fontAlgn="base"/>
            <a:r>
              <a:rPr lang="en-US" sz="3200" dirty="0"/>
              <a:t>Unit 4: Tic-Tac-Toe (2 human players)</a:t>
            </a:r>
          </a:p>
          <a:p>
            <a:pPr fontAlgn="base"/>
            <a:r>
              <a:rPr lang="en-US" sz="3200" dirty="0"/>
              <a:t>Unit 5: Music programming in </a:t>
            </a:r>
            <a:r>
              <a:rPr lang="en-US" sz="3200" dirty="0" err="1"/>
              <a:t>EarSketch</a:t>
            </a:r>
            <a:endParaRPr lang="en-US" sz="3200" dirty="0"/>
          </a:p>
          <a:p>
            <a:pPr fontAlgn="base"/>
            <a:r>
              <a:rPr lang="en-US" sz="3200" dirty="0"/>
              <a:t>Unit 6: Guess who? Game</a:t>
            </a:r>
          </a:p>
          <a:p>
            <a:pPr fontAlgn="base"/>
            <a:r>
              <a:rPr lang="en-US" sz="3200" dirty="0"/>
              <a:t>Unit 7: Pokémon</a:t>
            </a:r>
          </a:p>
          <a:p>
            <a:pPr fontAlgn="base"/>
            <a:r>
              <a:rPr lang="en-US" sz="3200" dirty="0"/>
              <a:t>Unit 8: Final project - student created</a:t>
            </a:r>
          </a:p>
        </p:txBody>
      </p:sp>
    </p:spTree>
    <p:custDataLst>
      <p:tags r:id="rId1"/>
    </p:custDataLst>
    <p:extLst>
      <p:ext uri="{BB962C8B-B14F-4D97-AF65-F5344CB8AC3E}">
        <p14:creationId xmlns:p14="http://schemas.microsoft.com/office/powerpoint/2010/main" val="2508777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C1B6-AE35-49C7-BE0C-C5A13EE4FCCD}"/>
              </a:ext>
            </a:extLst>
          </p:cNvPr>
          <p:cNvSpPr>
            <a:spLocks noGrp="1"/>
          </p:cNvSpPr>
          <p:nvPr>
            <p:ph type="title"/>
          </p:nvPr>
        </p:nvSpPr>
        <p:spPr/>
        <p:txBody>
          <a:bodyPr/>
          <a:lstStyle/>
          <a:p>
            <a:r>
              <a:rPr lang="en-US" dirty="0"/>
              <a:t>What is Python?</a:t>
            </a:r>
          </a:p>
        </p:txBody>
      </p:sp>
      <p:sp>
        <p:nvSpPr>
          <p:cNvPr id="3" name="Content Placeholder 2">
            <a:extLst>
              <a:ext uri="{FF2B5EF4-FFF2-40B4-BE49-F238E27FC236}">
                <a16:creationId xmlns:a16="http://schemas.microsoft.com/office/drawing/2014/main" id="{5EE23AB7-F2F4-423F-A5B2-7AFA6CF16FF1}"/>
              </a:ext>
            </a:extLst>
          </p:cNvPr>
          <p:cNvSpPr>
            <a:spLocks noGrp="1"/>
          </p:cNvSpPr>
          <p:nvPr>
            <p:ph sz="quarter" idx="12"/>
          </p:nvPr>
        </p:nvSpPr>
        <p:spPr>
          <a:xfrm>
            <a:off x="584200" y="1435100"/>
            <a:ext cx="5211763" cy="4899803"/>
          </a:xfrm>
        </p:spPr>
        <p:txBody>
          <a:bodyPr/>
          <a:lstStyle/>
          <a:p>
            <a:pPr fontAlgn="base"/>
            <a:r>
              <a:rPr lang="en-US" sz="2400" b="1" dirty="0"/>
              <a:t>Python</a:t>
            </a:r>
            <a:r>
              <a:rPr lang="en-US" sz="2400" dirty="0"/>
              <a:t> is a text-based programming language.</a:t>
            </a:r>
          </a:p>
          <a:p>
            <a:pPr fontAlgn="base"/>
            <a:r>
              <a:rPr lang="en-US" sz="2400" dirty="0"/>
              <a:t>First released 1991. </a:t>
            </a:r>
            <a:r>
              <a:rPr lang="en-US" sz="2400" b="1" dirty="0"/>
              <a:t>Python3</a:t>
            </a:r>
            <a:r>
              <a:rPr lang="en-US" sz="2400" dirty="0"/>
              <a:t> released 2008.</a:t>
            </a:r>
          </a:p>
          <a:p>
            <a:pPr fontAlgn="base"/>
            <a:r>
              <a:rPr lang="en-US" sz="2400" dirty="0"/>
              <a:t>Widely used in industry and academia.</a:t>
            </a:r>
          </a:p>
          <a:p>
            <a:pPr lvl="1" fontAlgn="base"/>
            <a:r>
              <a:rPr lang="en-US" sz="1800" dirty="0"/>
              <a:t>100,000,000+ lines of Python at Google, Inc.</a:t>
            </a:r>
          </a:p>
          <a:p>
            <a:pPr fontAlgn="base"/>
            <a:r>
              <a:rPr lang="en-US" sz="2400" dirty="0"/>
              <a:t>Invented by Guido van Rossum in the Netherlands.</a:t>
            </a:r>
          </a:p>
          <a:p>
            <a:pPr fontAlgn="base"/>
            <a:r>
              <a:rPr lang="en-US" sz="2400" dirty="0"/>
              <a:t>Known for its readability.</a:t>
            </a:r>
          </a:p>
          <a:p>
            <a:r>
              <a:rPr lang="en-US" sz="2400" dirty="0"/>
              <a:t>Named after BBC TV show </a:t>
            </a:r>
            <a:r>
              <a:rPr lang="en-US" sz="2400" i="1" dirty="0"/>
              <a:t>Monty Python's Flying Circus</a:t>
            </a:r>
            <a:r>
              <a:rPr lang="en-US" sz="2400" dirty="0"/>
              <a:t>.</a:t>
            </a:r>
          </a:p>
        </p:txBody>
      </p:sp>
      <p:pic>
        <p:nvPicPr>
          <p:cNvPr id="3074" name="Picture 2" descr="Python Logo">
            <a:extLst>
              <a:ext uri="{FF2B5EF4-FFF2-40B4-BE49-F238E27FC236}">
                <a16:creationId xmlns:a16="http://schemas.microsoft.com/office/drawing/2014/main" id="{D274FA38-6083-48EA-9FD2-58A6C74B6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549" y="311130"/>
            <a:ext cx="846138" cy="84613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n Image of the characters from Monty Python Flying Circus">
            <a:extLst>
              <a:ext uri="{FF2B5EF4-FFF2-40B4-BE49-F238E27FC236}">
                <a16:creationId xmlns:a16="http://schemas.microsoft.com/office/drawing/2014/main" id="{05E46E80-A6A7-4FC3-A469-35068FBB6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7145" y="3691468"/>
            <a:ext cx="4816592" cy="270933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icture of Guido Can Rossum the creator of Python">
            <a:extLst>
              <a:ext uri="{FF2B5EF4-FFF2-40B4-BE49-F238E27FC236}">
                <a16:creationId xmlns:a16="http://schemas.microsoft.com/office/drawing/2014/main" id="{A79263D5-E07E-46D7-BF60-D0425BBEC7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7145" y="457200"/>
            <a:ext cx="4816592" cy="270933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3586575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4946-F161-4351-82BC-373FD1DDF854}"/>
              </a:ext>
            </a:extLst>
          </p:cNvPr>
          <p:cNvSpPr>
            <a:spLocks noGrp="1"/>
          </p:cNvSpPr>
          <p:nvPr>
            <p:ph type="title"/>
          </p:nvPr>
        </p:nvSpPr>
        <p:spPr/>
        <p:txBody>
          <a:bodyPr/>
          <a:lstStyle/>
          <a:p>
            <a:r>
              <a:rPr lang="en-US" dirty="0" err="1"/>
              <a:t>Jupyter</a:t>
            </a:r>
            <a:r>
              <a:rPr lang="en-US" dirty="0"/>
              <a:t> Notebooks</a:t>
            </a:r>
          </a:p>
        </p:txBody>
      </p:sp>
      <p:sp>
        <p:nvSpPr>
          <p:cNvPr id="6" name="Content Placeholder 5">
            <a:extLst>
              <a:ext uri="{FF2B5EF4-FFF2-40B4-BE49-F238E27FC236}">
                <a16:creationId xmlns:a16="http://schemas.microsoft.com/office/drawing/2014/main" id="{63B1962E-829D-4FEA-9F52-9F1394635B2D}"/>
              </a:ext>
            </a:extLst>
          </p:cNvPr>
          <p:cNvSpPr>
            <a:spLocks noGrp="1"/>
          </p:cNvSpPr>
          <p:nvPr>
            <p:ph sz="quarter" idx="10"/>
          </p:nvPr>
        </p:nvSpPr>
        <p:spPr>
          <a:xfrm>
            <a:off x="584200" y="1435100"/>
            <a:ext cx="11018838" cy="812530"/>
          </a:xfrm>
        </p:spPr>
        <p:txBody>
          <a:bodyPr/>
          <a:lstStyle/>
          <a:p>
            <a:r>
              <a:rPr lang="en-US" sz="2400" dirty="0"/>
              <a:t>The </a:t>
            </a:r>
            <a:r>
              <a:rPr lang="en-US" sz="2400" dirty="0" err="1"/>
              <a:t>Jupyter</a:t>
            </a:r>
            <a:r>
              <a:rPr lang="en-US" sz="2400" dirty="0"/>
              <a:t> Notebook is a web-based programming environment. </a:t>
            </a:r>
          </a:p>
          <a:p>
            <a:r>
              <a:rPr lang="en-US" sz="2400" dirty="0"/>
              <a:t>It combines live code, equations, narrative text, visualizations, etc.</a:t>
            </a:r>
          </a:p>
        </p:txBody>
      </p:sp>
      <p:pic>
        <p:nvPicPr>
          <p:cNvPr id="2" name="Picture 1">
            <a:extLst>
              <a:ext uri="{FF2B5EF4-FFF2-40B4-BE49-F238E27FC236}">
                <a16:creationId xmlns:a16="http://schemas.microsoft.com/office/drawing/2014/main" id="{AA30F757-20A9-1640-AB61-E0B3B3ACB003}"/>
              </a:ext>
            </a:extLst>
          </p:cNvPr>
          <p:cNvPicPr>
            <a:picLocks noChangeAspect="1"/>
          </p:cNvPicPr>
          <p:nvPr/>
        </p:nvPicPr>
        <p:blipFill>
          <a:blip r:embed="rId3"/>
          <a:stretch>
            <a:fillRect/>
          </a:stretch>
        </p:blipFill>
        <p:spPr>
          <a:xfrm>
            <a:off x="1658983" y="2394385"/>
            <a:ext cx="6676588" cy="4431972"/>
          </a:xfrm>
          <a:prstGeom prst="rect">
            <a:avLst/>
          </a:prstGeom>
        </p:spPr>
      </p:pic>
    </p:spTree>
    <p:custDataLst>
      <p:tags r:id="rId1"/>
    </p:custDataLst>
    <p:extLst>
      <p:ext uri="{BB962C8B-B14F-4D97-AF65-F5344CB8AC3E}">
        <p14:creationId xmlns:p14="http://schemas.microsoft.com/office/powerpoint/2010/main" val="21008299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BECF-9334-4866-BD1E-8AD1A0D145C8}"/>
              </a:ext>
            </a:extLst>
          </p:cNvPr>
          <p:cNvSpPr>
            <a:spLocks noGrp="1"/>
          </p:cNvSpPr>
          <p:nvPr>
            <p:ph type="title"/>
          </p:nvPr>
        </p:nvSpPr>
        <p:spPr/>
        <p:txBody>
          <a:bodyPr/>
          <a:lstStyle/>
          <a:p>
            <a:r>
              <a:rPr lang="en-US" dirty="0"/>
              <a:t>Hello world</a:t>
            </a:r>
          </a:p>
        </p:txBody>
      </p:sp>
      <p:sp>
        <p:nvSpPr>
          <p:cNvPr id="3" name="Content Placeholder 2">
            <a:extLst>
              <a:ext uri="{FF2B5EF4-FFF2-40B4-BE49-F238E27FC236}">
                <a16:creationId xmlns:a16="http://schemas.microsoft.com/office/drawing/2014/main" id="{713CD510-1542-451C-9488-9E399C38194D}"/>
              </a:ext>
            </a:extLst>
          </p:cNvPr>
          <p:cNvSpPr>
            <a:spLocks noGrp="1"/>
          </p:cNvSpPr>
          <p:nvPr>
            <p:ph sz="quarter" idx="10"/>
          </p:nvPr>
        </p:nvSpPr>
        <p:spPr>
          <a:xfrm>
            <a:off x="584200" y="1435100"/>
            <a:ext cx="11018838" cy="3016210"/>
          </a:xfrm>
        </p:spPr>
        <p:txBody>
          <a:bodyPr/>
          <a:lstStyle/>
          <a:p>
            <a:pPr marL="0" indent="0">
              <a:buNone/>
            </a:pPr>
            <a:r>
              <a:rPr lang="en-US" dirty="0"/>
              <a:t>Write the following code cell to print “Hello World”</a:t>
            </a:r>
          </a:p>
          <a:p>
            <a:pPr fontAlgn="base"/>
            <a:r>
              <a:rPr lang="en-US" dirty="0"/>
              <a:t>Quotation marks matter</a:t>
            </a:r>
          </a:p>
          <a:p>
            <a:pPr fontAlgn="base"/>
            <a:r>
              <a:rPr lang="en-US" dirty="0"/>
              <a:t>Parentheses matter</a:t>
            </a:r>
          </a:p>
          <a:p>
            <a:pPr fontAlgn="base"/>
            <a:r>
              <a:rPr lang="en-US" dirty="0"/>
              <a:t>Text coloring happens automatically</a:t>
            </a:r>
          </a:p>
          <a:p>
            <a:pPr fontAlgn="base"/>
            <a:r>
              <a:rPr lang="en-US" dirty="0"/>
              <a:t>Use shift-enter or hit the play button to execute</a:t>
            </a:r>
          </a:p>
          <a:p>
            <a:pPr marL="0" indent="0">
              <a:buNone/>
            </a:pPr>
            <a:endParaRPr lang="en-US" dirty="0"/>
          </a:p>
        </p:txBody>
      </p:sp>
      <p:pic>
        <p:nvPicPr>
          <p:cNvPr id="4" name="Picture 3">
            <a:extLst>
              <a:ext uri="{FF2B5EF4-FFF2-40B4-BE49-F238E27FC236}">
                <a16:creationId xmlns:a16="http://schemas.microsoft.com/office/drawing/2014/main" id="{156779D8-52BC-0B4B-AF2C-31107DD65A42}"/>
              </a:ext>
            </a:extLst>
          </p:cNvPr>
          <p:cNvPicPr>
            <a:picLocks noChangeAspect="1"/>
          </p:cNvPicPr>
          <p:nvPr/>
        </p:nvPicPr>
        <p:blipFill>
          <a:blip r:embed="rId3"/>
          <a:stretch>
            <a:fillRect/>
          </a:stretch>
        </p:blipFill>
        <p:spPr>
          <a:xfrm>
            <a:off x="1321344" y="4493875"/>
            <a:ext cx="8429679" cy="1858050"/>
          </a:xfrm>
          <a:prstGeom prst="rect">
            <a:avLst/>
          </a:prstGeom>
        </p:spPr>
      </p:pic>
    </p:spTree>
    <p:custDataLst>
      <p:tags r:id="rId1"/>
    </p:custDataLst>
    <p:extLst>
      <p:ext uri="{BB962C8B-B14F-4D97-AF65-F5344CB8AC3E}">
        <p14:creationId xmlns:p14="http://schemas.microsoft.com/office/powerpoint/2010/main" val="400168662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BECF-9334-4866-BD1E-8AD1A0D145C8}"/>
              </a:ext>
            </a:extLst>
          </p:cNvPr>
          <p:cNvSpPr>
            <a:spLocks noGrp="1"/>
          </p:cNvSpPr>
          <p:nvPr>
            <p:ph type="title"/>
          </p:nvPr>
        </p:nvSpPr>
        <p:spPr/>
        <p:txBody>
          <a:bodyPr/>
          <a:lstStyle/>
          <a:p>
            <a:r>
              <a:rPr lang="en-US" dirty="0"/>
              <a:t>Rename the </a:t>
            </a:r>
            <a:r>
              <a:rPr lang="en-US" dirty="0" err="1"/>
              <a:t>Jupyter</a:t>
            </a:r>
            <a:r>
              <a:rPr lang="en-US" dirty="0"/>
              <a:t> Notebook</a:t>
            </a:r>
          </a:p>
        </p:txBody>
      </p:sp>
      <p:pic>
        <p:nvPicPr>
          <p:cNvPr id="7" name="Picture 6">
            <a:extLst>
              <a:ext uri="{FF2B5EF4-FFF2-40B4-BE49-F238E27FC236}">
                <a16:creationId xmlns:a16="http://schemas.microsoft.com/office/drawing/2014/main" id="{BFA4684C-E0A7-B346-8135-914743E5232E}"/>
              </a:ext>
            </a:extLst>
          </p:cNvPr>
          <p:cNvPicPr>
            <a:picLocks noChangeAspect="1"/>
          </p:cNvPicPr>
          <p:nvPr/>
        </p:nvPicPr>
        <p:blipFill>
          <a:blip r:embed="rId3"/>
          <a:stretch>
            <a:fillRect/>
          </a:stretch>
        </p:blipFill>
        <p:spPr>
          <a:xfrm>
            <a:off x="313508" y="1011198"/>
            <a:ext cx="10663646" cy="5580296"/>
          </a:xfrm>
          <a:prstGeom prst="rect">
            <a:avLst/>
          </a:prstGeom>
        </p:spPr>
      </p:pic>
    </p:spTree>
    <p:custDataLst>
      <p:tags r:id="rId1"/>
    </p:custDataLst>
    <p:extLst>
      <p:ext uri="{BB962C8B-B14F-4D97-AF65-F5344CB8AC3E}">
        <p14:creationId xmlns:p14="http://schemas.microsoft.com/office/powerpoint/2010/main" val="24077756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Click Share</a:t>
            </a:r>
          </a:p>
        </p:txBody>
      </p:sp>
      <p:pic>
        <p:nvPicPr>
          <p:cNvPr id="4" name="Picture 3">
            <a:extLst>
              <a:ext uri="{FF2B5EF4-FFF2-40B4-BE49-F238E27FC236}">
                <a16:creationId xmlns:a16="http://schemas.microsoft.com/office/drawing/2014/main" id="{DBD9451C-2DC8-AC4F-8280-E89A34672A61}"/>
              </a:ext>
            </a:extLst>
          </p:cNvPr>
          <p:cNvPicPr>
            <a:picLocks noChangeAspect="1"/>
          </p:cNvPicPr>
          <p:nvPr/>
        </p:nvPicPr>
        <p:blipFill>
          <a:blip r:embed="rId2"/>
          <a:stretch>
            <a:fillRect/>
          </a:stretch>
        </p:blipFill>
        <p:spPr>
          <a:xfrm>
            <a:off x="666205" y="1174574"/>
            <a:ext cx="10859589" cy="5683426"/>
          </a:xfrm>
          <a:prstGeom prst="rect">
            <a:avLst/>
          </a:prstGeom>
        </p:spPr>
      </p:pic>
    </p:spTree>
    <p:extLst>
      <p:ext uri="{BB962C8B-B14F-4D97-AF65-F5344CB8AC3E}">
        <p14:creationId xmlns:p14="http://schemas.microsoft.com/office/powerpoint/2010/main" val="2062796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Click Share with Grand Coulee Dam School District</a:t>
            </a:r>
          </a:p>
        </p:txBody>
      </p:sp>
      <p:pic>
        <p:nvPicPr>
          <p:cNvPr id="3" name="Picture 2">
            <a:extLst>
              <a:ext uri="{FF2B5EF4-FFF2-40B4-BE49-F238E27FC236}">
                <a16:creationId xmlns:a16="http://schemas.microsoft.com/office/drawing/2014/main" id="{AB479536-0366-D243-90DE-293105973462}"/>
              </a:ext>
            </a:extLst>
          </p:cNvPr>
          <p:cNvPicPr>
            <a:picLocks noChangeAspect="1"/>
          </p:cNvPicPr>
          <p:nvPr/>
        </p:nvPicPr>
        <p:blipFill>
          <a:blip r:embed="rId2"/>
          <a:stretch>
            <a:fillRect/>
          </a:stretch>
        </p:blipFill>
        <p:spPr>
          <a:xfrm>
            <a:off x="1110342" y="1142674"/>
            <a:ext cx="10624457" cy="5486660"/>
          </a:xfrm>
          <a:prstGeom prst="rect">
            <a:avLst/>
          </a:prstGeom>
        </p:spPr>
      </p:pic>
    </p:spTree>
    <p:extLst>
      <p:ext uri="{BB962C8B-B14F-4D97-AF65-F5344CB8AC3E}">
        <p14:creationId xmlns:p14="http://schemas.microsoft.com/office/powerpoint/2010/main" val="726740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Copy link to share in Google Classroom</a:t>
            </a:r>
          </a:p>
        </p:txBody>
      </p:sp>
      <p:pic>
        <p:nvPicPr>
          <p:cNvPr id="4" name="Picture 3">
            <a:extLst>
              <a:ext uri="{FF2B5EF4-FFF2-40B4-BE49-F238E27FC236}">
                <a16:creationId xmlns:a16="http://schemas.microsoft.com/office/drawing/2014/main" id="{C41DF5F1-1D83-0644-ACA5-4A98A2D371EE}"/>
              </a:ext>
            </a:extLst>
          </p:cNvPr>
          <p:cNvPicPr>
            <a:picLocks noChangeAspect="1"/>
          </p:cNvPicPr>
          <p:nvPr/>
        </p:nvPicPr>
        <p:blipFill>
          <a:blip r:embed="rId2"/>
          <a:stretch>
            <a:fillRect/>
          </a:stretch>
        </p:blipFill>
        <p:spPr>
          <a:xfrm>
            <a:off x="585217" y="1011198"/>
            <a:ext cx="11031683" cy="5885773"/>
          </a:xfrm>
          <a:prstGeom prst="rect">
            <a:avLst/>
          </a:prstGeom>
        </p:spPr>
      </p:pic>
    </p:spTree>
    <p:extLst>
      <p:ext uri="{BB962C8B-B14F-4D97-AF65-F5344CB8AC3E}">
        <p14:creationId xmlns:p14="http://schemas.microsoft.com/office/powerpoint/2010/main" val="357854512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1.02 </a:t>
            </a:r>
            <a:r>
              <a:rPr lang="en-US" dirty="0"/>
              <a:t>Interactive Mode</a:t>
            </a:r>
            <a:endParaRPr lang="en-US" dirty="0">
              <a:cs typeface="Segoe UI"/>
            </a:endParaRP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9144000" cy="677108"/>
          </a:xfrm>
        </p:spPr>
        <p:txBody>
          <a:bodyPr/>
          <a:lstStyle/>
          <a:p>
            <a:r>
              <a:rPr lang="en-US" dirty="0">
                <a:cs typeface="Segoe UI"/>
              </a:rPr>
              <a:t>Microsoft Philanthropies TEALS Program – Introduction to Computer Science – Semester 2</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91248" y="6338182"/>
            <a:ext cx="3105150" cy="390525"/>
          </a:xfrm>
          <a:prstGeom prst="rect">
            <a:avLst/>
          </a:prstGeom>
        </p:spPr>
      </p:pic>
    </p:spTree>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t>Interactive Mode</a:t>
            </a:r>
            <a:endParaRPr lang="en-US" b="1" dirty="0"/>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interpreter, string, integer, float, value, errors, console, expression</a:t>
            </a:r>
          </a:p>
          <a:p>
            <a:pPr marL="342900" indent="-342900">
              <a:buFont typeface="Arial" panose="020B0604020202020204" pitchFamily="34" charset="0"/>
              <a:buChar char="•"/>
            </a:pPr>
            <a:r>
              <a:rPr lang="en-US" dirty="0"/>
              <a:t>Use the Python interpreter to evaluate simple math expressions</a:t>
            </a:r>
          </a:p>
          <a:p>
            <a:pPr marL="342900" indent="-342900">
              <a:buFont typeface="Arial" panose="020B0604020202020204" pitchFamily="34" charset="0"/>
              <a:buChar char="•"/>
            </a:pPr>
            <a:r>
              <a:rPr lang="en-US" dirty="0"/>
              <a:t>Distinguish between an integer, float, and string</a:t>
            </a:r>
          </a:p>
        </p:txBody>
      </p:sp>
    </p:spTree>
    <p:custDataLst>
      <p:tags r:id="rId1"/>
    </p:custDataLst>
    <p:extLst>
      <p:ext uri="{BB962C8B-B14F-4D97-AF65-F5344CB8AC3E}">
        <p14:creationId xmlns:p14="http://schemas.microsoft.com/office/powerpoint/2010/main" val="42533171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Today’s 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757678"/>
          </a:xfrm>
        </p:spPr>
        <p:txBody>
          <a:bodyPr/>
          <a:lstStyle/>
          <a:p>
            <a:r>
              <a:rPr lang="en-US" dirty="0"/>
              <a:t>Do Now</a:t>
            </a:r>
          </a:p>
          <a:p>
            <a:r>
              <a:rPr lang="en-US" dirty="0"/>
              <a:t>Lesson</a:t>
            </a:r>
          </a:p>
          <a:p>
            <a:r>
              <a:rPr lang="en-US" dirty="0"/>
              <a:t>Lab Part 1 Discussion</a:t>
            </a:r>
          </a:p>
          <a:p>
            <a:r>
              <a:rPr lang="en-US" dirty="0"/>
              <a:t>Lab Part 2 Discussion</a:t>
            </a:r>
          </a:p>
          <a:p>
            <a:r>
              <a:rPr lang="en-US" dirty="0"/>
              <a:t>Debrief</a:t>
            </a:r>
          </a:p>
        </p:txBody>
      </p:sp>
    </p:spTree>
    <p:custDataLst>
      <p:tags r:id="rId1"/>
    </p:custDataLst>
    <p:extLst>
      <p:ext uri="{BB962C8B-B14F-4D97-AF65-F5344CB8AC3E}">
        <p14:creationId xmlns:p14="http://schemas.microsoft.com/office/powerpoint/2010/main" val="138851770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Do Now</a:t>
            </a:r>
          </a:p>
        </p:txBody>
      </p:sp>
      <p:sp>
        <p:nvSpPr>
          <p:cNvPr id="5" name="Content Placeholder 4">
            <a:extLst>
              <a:ext uri="{FF2B5EF4-FFF2-40B4-BE49-F238E27FC236}">
                <a16:creationId xmlns:a16="http://schemas.microsoft.com/office/drawing/2014/main" id="{91C6D39E-EAF2-4C23-AB65-59319345A4AE}"/>
              </a:ext>
            </a:extLst>
          </p:cNvPr>
          <p:cNvSpPr>
            <a:spLocks noGrp="1"/>
          </p:cNvSpPr>
          <p:nvPr>
            <p:ph sz="quarter" idx="10"/>
          </p:nvPr>
        </p:nvSpPr>
        <p:spPr>
          <a:xfrm>
            <a:off x="584200" y="1435100"/>
            <a:ext cx="11018838" cy="2930033"/>
          </a:xfrm>
        </p:spPr>
        <p:txBody>
          <a:bodyPr/>
          <a:lstStyle/>
          <a:p>
            <a:pPr marL="0" indent="0">
              <a:buNone/>
            </a:pPr>
            <a:r>
              <a:rPr lang="en-US" dirty="0"/>
              <a:t>Read the Following 1.1 Associated readings</a:t>
            </a:r>
          </a:p>
          <a:p>
            <a:pPr marL="0" indent="0">
              <a:buNone/>
            </a:pPr>
            <a:r>
              <a:rPr lang="en-US" dirty="0">
                <a:hlinkClick r:id="rId4"/>
              </a:rPr>
              <a:t>https://tealsk12.github.io/2nd-semester-introduction-to-computer-science/readings.md.html</a:t>
            </a:r>
            <a:r>
              <a:rPr lang="en-US" dirty="0"/>
              <a:t>  </a:t>
            </a:r>
          </a:p>
          <a:p>
            <a:pPr marL="0" indent="0">
              <a:buNone/>
            </a:pPr>
            <a:endParaRPr lang="en-US" dirty="0"/>
          </a:p>
          <a:p>
            <a:pPr marL="0" indent="0">
              <a:buNone/>
            </a:pPr>
            <a:r>
              <a:rPr lang="en-US" dirty="0"/>
              <a:t>In your Notebook, </a:t>
            </a:r>
          </a:p>
          <a:p>
            <a:pPr marL="0" indent="0">
              <a:buNone/>
            </a:pPr>
            <a:r>
              <a:rPr lang="en-US" dirty="0"/>
              <a:t>Write down three major learning from the reading.</a:t>
            </a:r>
          </a:p>
        </p:txBody>
      </p:sp>
    </p:spTree>
    <p:custDataLst>
      <p:tags r:id="rId1"/>
    </p:custDataLst>
    <p:extLst>
      <p:ext uri="{BB962C8B-B14F-4D97-AF65-F5344CB8AC3E}">
        <p14:creationId xmlns:p14="http://schemas.microsoft.com/office/powerpoint/2010/main" val="420841657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8FD83A-686A-6648-A6DF-40753F92FEA9}"/>
              </a:ext>
            </a:extLst>
          </p:cNvPr>
          <p:cNvPicPr>
            <a:picLocks noChangeAspect="1"/>
          </p:cNvPicPr>
          <p:nvPr/>
        </p:nvPicPr>
        <p:blipFill>
          <a:blip r:embed="rId2"/>
          <a:stretch>
            <a:fillRect/>
          </a:stretch>
        </p:blipFill>
        <p:spPr>
          <a:xfrm>
            <a:off x="525579" y="1296603"/>
            <a:ext cx="10832128" cy="5561397"/>
          </a:xfrm>
          <a:prstGeom prst="rect">
            <a:avLst/>
          </a:prstGeom>
        </p:spPr>
      </p:pic>
      <p:sp>
        <p:nvSpPr>
          <p:cNvPr id="2" name="Title 1">
            <a:extLst>
              <a:ext uri="{FF2B5EF4-FFF2-40B4-BE49-F238E27FC236}">
                <a16:creationId xmlns:a16="http://schemas.microsoft.com/office/drawing/2014/main" id="{3B093878-3B2D-475B-B0B9-57F48509AC69}"/>
              </a:ext>
            </a:extLst>
          </p:cNvPr>
          <p:cNvSpPr>
            <a:spLocks noGrp="1"/>
          </p:cNvSpPr>
          <p:nvPr>
            <p:ph type="title"/>
          </p:nvPr>
        </p:nvSpPr>
        <p:spPr/>
        <p:txBody>
          <a:bodyPr/>
          <a:lstStyle/>
          <a:p>
            <a:r>
              <a:rPr lang="en-US" dirty="0"/>
              <a:t>Using </a:t>
            </a:r>
            <a:r>
              <a:rPr lang="en-US" dirty="0" err="1"/>
              <a:t>Colab</a:t>
            </a:r>
            <a:r>
              <a:rPr lang="en-US" dirty="0"/>
              <a:t> Notebooks</a:t>
            </a:r>
          </a:p>
        </p:txBody>
      </p:sp>
      <p:sp>
        <p:nvSpPr>
          <p:cNvPr id="4" name="TextBox 3">
            <a:extLst>
              <a:ext uri="{FF2B5EF4-FFF2-40B4-BE49-F238E27FC236}">
                <a16:creationId xmlns:a16="http://schemas.microsoft.com/office/drawing/2014/main" id="{3CD67599-7EC5-472E-A00C-4DF9E3C1AAA8}"/>
              </a:ext>
            </a:extLst>
          </p:cNvPr>
          <p:cNvSpPr txBox="1"/>
          <p:nvPr/>
        </p:nvSpPr>
        <p:spPr>
          <a:xfrm>
            <a:off x="8906933" y="3121223"/>
            <a:ext cx="1964265" cy="923330"/>
          </a:xfrm>
          <a:prstGeom prst="rect">
            <a:avLst/>
          </a:prstGeom>
          <a:noFill/>
        </p:spPr>
        <p:txBody>
          <a:bodyPr wrap="square" lIns="0" tIns="0" rIns="0" bIns="0" rtlCol="0">
            <a:spAutoFit/>
          </a:bodyPr>
          <a:lstStyle/>
          <a:p>
            <a:pPr algn="l"/>
            <a:r>
              <a:rPr lang="en-US" sz="2000" dirty="0">
                <a:gradFill>
                  <a:gsLst>
                    <a:gs pos="2917">
                      <a:schemeClr val="tx1"/>
                    </a:gs>
                    <a:gs pos="30000">
                      <a:schemeClr val="tx1"/>
                    </a:gs>
                  </a:gsLst>
                  <a:lin ang="5400000" scaled="0"/>
                </a:gradFill>
              </a:rPr>
              <a:t>Type Here and hit Play or &lt;shift&gt;-&lt;enter&gt;</a:t>
            </a:r>
          </a:p>
        </p:txBody>
      </p:sp>
      <p:cxnSp>
        <p:nvCxnSpPr>
          <p:cNvPr id="10" name="Straight Arrow Connector 9" descr="Arrow pointing from the words Type Here to the right hand side of the console.&#10;">
            <a:extLst>
              <a:ext uri="{FF2B5EF4-FFF2-40B4-BE49-F238E27FC236}">
                <a16:creationId xmlns:a16="http://schemas.microsoft.com/office/drawing/2014/main" id="{3F811AD7-F290-43B4-9157-D7C8C876B5D0}"/>
              </a:ext>
            </a:extLst>
          </p:cNvPr>
          <p:cNvCxnSpPr/>
          <p:nvPr/>
        </p:nvCxnSpPr>
        <p:spPr>
          <a:xfrm flipH="1" flipV="1">
            <a:off x="6750756" y="2946631"/>
            <a:ext cx="1964266" cy="321579"/>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6337936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2347-DB2F-4F28-8E42-4BB4348FD91F}"/>
              </a:ext>
            </a:extLst>
          </p:cNvPr>
          <p:cNvSpPr>
            <a:spLocks noGrp="1"/>
          </p:cNvSpPr>
          <p:nvPr>
            <p:ph type="title"/>
          </p:nvPr>
        </p:nvSpPr>
        <p:spPr/>
        <p:txBody>
          <a:bodyPr/>
          <a:lstStyle/>
          <a:p>
            <a:r>
              <a:rPr lang="en-US" dirty="0"/>
              <a:t>Key Terms – Write in your Notebook</a:t>
            </a:r>
          </a:p>
        </p:txBody>
      </p:sp>
      <p:sp>
        <p:nvSpPr>
          <p:cNvPr id="3" name="Content Placeholder 2">
            <a:extLst>
              <a:ext uri="{FF2B5EF4-FFF2-40B4-BE49-F238E27FC236}">
                <a16:creationId xmlns:a16="http://schemas.microsoft.com/office/drawing/2014/main" id="{B4C4C11F-39C6-4C70-BA76-626AE64F124B}"/>
              </a:ext>
            </a:extLst>
          </p:cNvPr>
          <p:cNvSpPr>
            <a:spLocks noGrp="1"/>
          </p:cNvSpPr>
          <p:nvPr>
            <p:ph sz="quarter" idx="10"/>
          </p:nvPr>
        </p:nvSpPr>
        <p:spPr>
          <a:xfrm>
            <a:off x="584200" y="1435100"/>
            <a:ext cx="11018838" cy="5293757"/>
          </a:xfrm>
        </p:spPr>
        <p:txBody>
          <a:bodyPr/>
          <a:lstStyle/>
          <a:p>
            <a:r>
              <a:rPr lang="en-US" b="1" dirty="0"/>
              <a:t>Value</a:t>
            </a:r>
            <a:r>
              <a:rPr lang="en-US" dirty="0"/>
              <a:t> - A single piece of data in Python (e.g. 2, “Hello, World”).</a:t>
            </a:r>
          </a:p>
          <a:p>
            <a:r>
              <a:rPr lang="en-US" b="1" dirty="0"/>
              <a:t>Type</a:t>
            </a:r>
            <a:r>
              <a:rPr lang="en-US" dirty="0"/>
              <a:t> - A classification for data which tells the interpreter how it will be used.</a:t>
            </a:r>
          </a:p>
          <a:p>
            <a:pPr lvl="1"/>
            <a:r>
              <a:rPr lang="en-US" b="1" dirty="0"/>
              <a:t>Integer</a:t>
            </a:r>
            <a:r>
              <a:rPr lang="en-US" dirty="0"/>
              <a:t> - A type containing a whole number  …, -2, -1, 0, 1, 2, …</a:t>
            </a:r>
          </a:p>
          <a:p>
            <a:pPr lvl="1"/>
            <a:r>
              <a:rPr lang="en-US" b="1" dirty="0"/>
              <a:t>String</a:t>
            </a:r>
            <a:r>
              <a:rPr lang="en-US" dirty="0"/>
              <a:t> - A type containing a series of characters. Usually written using quotes (e.g. “Hello, World”).</a:t>
            </a:r>
          </a:p>
          <a:p>
            <a:pPr lvl="1"/>
            <a:r>
              <a:rPr lang="en-US" b="1" dirty="0"/>
              <a:t>Float</a:t>
            </a:r>
            <a:r>
              <a:rPr lang="en-US" dirty="0"/>
              <a:t> - A type containing a decimal value.</a:t>
            </a:r>
          </a:p>
          <a:p>
            <a:r>
              <a:rPr lang="en-US" b="1" dirty="0"/>
              <a:t>Operators</a:t>
            </a:r>
            <a:r>
              <a:rPr lang="en-US" dirty="0"/>
              <a:t> - Symbols that represent computations (e.g. +, -, /, *).</a:t>
            </a:r>
          </a:p>
          <a:p>
            <a:r>
              <a:rPr lang="en-US" b="1" dirty="0"/>
              <a:t>Expressions</a:t>
            </a:r>
            <a:r>
              <a:rPr lang="en-US" dirty="0"/>
              <a:t> - A combination of values, variables, and operators. (e.g. 2+3).</a:t>
            </a:r>
          </a:p>
          <a:p>
            <a:r>
              <a:rPr lang="en-US" b="1" dirty="0"/>
              <a:t>Statement</a:t>
            </a:r>
            <a:r>
              <a:rPr lang="en-US" dirty="0"/>
              <a:t> - A unit of code that Python can execute.</a:t>
            </a:r>
          </a:p>
          <a:p>
            <a:r>
              <a:rPr lang="en-US" b="1" dirty="0"/>
              <a:t>Variable</a:t>
            </a:r>
            <a:r>
              <a:rPr lang="en-US" dirty="0"/>
              <a:t> - A name that refers to a value.</a:t>
            </a:r>
          </a:p>
        </p:txBody>
      </p:sp>
    </p:spTree>
    <p:extLst>
      <p:ext uri="{BB962C8B-B14F-4D97-AF65-F5344CB8AC3E}">
        <p14:creationId xmlns:p14="http://schemas.microsoft.com/office/powerpoint/2010/main" val="17730445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ADCD-0B19-438E-AC3F-BD994116B397}"/>
              </a:ext>
            </a:extLst>
          </p:cNvPr>
          <p:cNvSpPr>
            <a:spLocks noGrp="1"/>
          </p:cNvSpPr>
          <p:nvPr>
            <p:ph type="title"/>
          </p:nvPr>
        </p:nvSpPr>
        <p:spPr/>
        <p:txBody>
          <a:bodyPr/>
          <a:lstStyle/>
          <a:p>
            <a:r>
              <a:rPr lang="en-US" dirty="0"/>
              <a:t>Lab 1.03 – Section 1 Discussion</a:t>
            </a:r>
          </a:p>
        </p:txBody>
      </p:sp>
      <p:sp>
        <p:nvSpPr>
          <p:cNvPr id="3" name="Content Placeholder 2">
            <a:extLst>
              <a:ext uri="{FF2B5EF4-FFF2-40B4-BE49-F238E27FC236}">
                <a16:creationId xmlns:a16="http://schemas.microsoft.com/office/drawing/2014/main" id="{F7C58CAB-4D02-4538-A3EA-55EAD2F1B784}"/>
              </a:ext>
            </a:extLst>
          </p:cNvPr>
          <p:cNvSpPr>
            <a:spLocks noGrp="1"/>
          </p:cNvSpPr>
          <p:nvPr>
            <p:ph sz="quarter" idx="10"/>
          </p:nvPr>
        </p:nvSpPr>
        <p:spPr>
          <a:xfrm>
            <a:off x="584200" y="1435099"/>
            <a:ext cx="11018838" cy="3754874"/>
          </a:xfrm>
        </p:spPr>
        <p:txBody>
          <a:bodyPr/>
          <a:lstStyle/>
          <a:p>
            <a:r>
              <a:rPr lang="en-US" dirty="0"/>
              <a:t>What does the // do? </a:t>
            </a:r>
          </a:p>
          <a:p>
            <a:r>
              <a:rPr lang="en-US" dirty="0"/>
              <a:t>How is that different from /? </a:t>
            </a:r>
          </a:p>
          <a:p>
            <a:r>
              <a:rPr lang="en-US" dirty="0"/>
              <a:t>And how are those different from %?</a:t>
            </a:r>
          </a:p>
          <a:p>
            <a:r>
              <a:rPr lang="en-US" dirty="0"/>
              <a:t>What’s the difference between 3.0 and 3?</a:t>
            </a:r>
          </a:p>
          <a:p>
            <a:r>
              <a:rPr lang="en-US" dirty="0"/>
              <a:t>Key Terms</a:t>
            </a:r>
          </a:p>
          <a:p>
            <a:pPr lvl="1"/>
            <a:r>
              <a:rPr lang="en-US" dirty="0"/>
              <a:t>Floats: a data type, number with a decimal point.</a:t>
            </a:r>
          </a:p>
          <a:p>
            <a:pPr lvl="1"/>
            <a:r>
              <a:rPr lang="en-US" dirty="0"/>
              <a:t>Integers: a data type, number without a decimal point.</a:t>
            </a:r>
          </a:p>
          <a:p>
            <a:r>
              <a:rPr lang="en-US" dirty="0"/>
              <a:t>Now work through Section 2</a:t>
            </a:r>
          </a:p>
        </p:txBody>
      </p:sp>
    </p:spTree>
    <p:extLst>
      <p:ext uri="{BB962C8B-B14F-4D97-AF65-F5344CB8AC3E}">
        <p14:creationId xmlns:p14="http://schemas.microsoft.com/office/powerpoint/2010/main" val="87359071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B810-E4B5-46FB-A8AD-560929A5C294}"/>
              </a:ext>
            </a:extLst>
          </p:cNvPr>
          <p:cNvSpPr>
            <a:spLocks noGrp="1"/>
          </p:cNvSpPr>
          <p:nvPr>
            <p:ph type="title"/>
          </p:nvPr>
        </p:nvSpPr>
        <p:spPr/>
        <p:txBody>
          <a:bodyPr/>
          <a:lstStyle/>
          <a:p>
            <a:r>
              <a:rPr lang="en-US" dirty="0"/>
              <a:t>Lab 1.03 – Section 2 Discussion</a:t>
            </a:r>
          </a:p>
        </p:txBody>
      </p:sp>
      <p:sp>
        <p:nvSpPr>
          <p:cNvPr id="3" name="Content Placeholder 2">
            <a:extLst>
              <a:ext uri="{FF2B5EF4-FFF2-40B4-BE49-F238E27FC236}">
                <a16:creationId xmlns:a16="http://schemas.microsoft.com/office/drawing/2014/main" id="{024B1237-9C52-4143-8E95-0BAA2F62C4C7}"/>
              </a:ext>
            </a:extLst>
          </p:cNvPr>
          <p:cNvSpPr>
            <a:spLocks noGrp="1"/>
          </p:cNvSpPr>
          <p:nvPr>
            <p:ph sz="quarter" idx="10"/>
          </p:nvPr>
        </p:nvSpPr>
        <p:spPr>
          <a:xfrm>
            <a:off x="584200" y="1435100"/>
            <a:ext cx="11018838" cy="2351413"/>
          </a:xfrm>
        </p:spPr>
        <p:txBody>
          <a:bodyPr/>
          <a:lstStyle/>
          <a:p>
            <a:r>
              <a:rPr lang="en-US" dirty="0"/>
              <a:t>What happened when you typed in a?</a:t>
            </a:r>
          </a:p>
          <a:p>
            <a:r>
              <a:rPr lang="en-US" dirty="0"/>
              <a:t>What do you think that error message mean?</a:t>
            </a:r>
          </a:p>
          <a:p>
            <a:r>
              <a:rPr lang="en-US" dirty="0"/>
              <a:t>Key Term</a:t>
            </a:r>
          </a:p>
          <a:p>
            <a:pPr lvl="1"/>
            <a:r>
              <a:rPr lang="en-US" dirty="0"/>
              <a:t>String: a data type, characters surrounded in single or double quotes.</a:t>
            </a:r>
          </a:p>
          <a:p>
            <a:r>
              <a:rPr lang="en-US" dirty="0"/>
              <a:t>Now, work through section 3</a:t>
            </a:r>
          </a:p>
        </p:txBody>
      </p:sp>
    </p:spTree>
    <p:extLst>
      <p:ext uri="{BB962C8B-B14F-4D97-AF65-F5344CB8AC3E}">
        <p14:creationId xmlns:p14="http://schemas.microsoft.com/office/powerpoint/2010/main" val="119490829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2DF5-6F89-42E1-970C-5C74E97D4BF4}"/>
              </a:ext>
            </a:extLst>
          </p:cNvPr>
          <p:cNvSpPr>
            <a:spLocks noGrp="1"/>
          </p:cNvSpPr>
          <p:nvPr>
            <p:ph type="title"/>
          </p:nvPr>
        </p:nvSpPr>
        <p:spPr/>
        <p:txBody>
          <a:bodyPr/>
          <a:lstStyle/>
          <a:p>
            <a:r>
              <a:rPr lang="en-US" dirty="0"/>
              <a:t>Lab 1.03 – Section 3 Discussion</a:t>
            </a:r>
          </a:p>
        </p:txBody>
      </p:sp>
      <p:sp>
        <p:nvSpPr>
          <p:cNvPr id="3" name="Content Placeholder 2">
            <a:extLst>
              <a:ext uri="{FF2B5EF4-FFF2-40B4-BE49-F238E27FC236}">
                <a16:creationId xmlns:a16="http://schemas.microsoft.com/office/drawing/2014/main" id="{0A0D5515-4778-4AA9-A211-6F695724CA61}"/>
              </a:ext>
            </a:extLst>
          </p:cNvPr>
          <p:cNvSpPr>
            <a:spLocks noGrp="1"/>
          </p:cNvSpPr>
          <p:nvPr>
            <p:ph sz="quarter" idx="10"/>
          </p:nvPr>
        </p:nvSpPr>
        <p:spPr>
          <a:xfrm>
            <a:off x="584200" y="1435100"/>
            <a:ext cx="11018838" cy="2499146"/>
          </a:xfrm>
        </p:spPr>
        <p:txBody>
          <a:bodyPr/>
          <a:lstStyle/>
          <a:p>
            <a:r>
              <a:rPr lang="en-US" dirty="0"/>
              <a:t>What was the difference between the two inputs?</a:t>
            </a:r>
          </a:p>
          <a:p>
            <a:r>
              <a:rPr lang="en-US" dirty="0"/>
              <a:t>Strings can be combined using +.</a:t>
            </a:r>
          </a:p>
          <a:p>
            <a:r>
              <a:rPr lang="en-US" dirty="0"/>
              <a:t>What do you think the error message means?</a:t>
            </a:r>
          </a:p>
          <a:p>
            <a:r>
              <a:rPr lang="en-US" dirty="0"/>
              <a:t>You can’t combine different types!</a:t>
            </a:r>
          </a:p>
          <a:p>
            <a:r>
              <a:rPr lang="en-US" dirty="0"/>
              <a:t>Now, work through section 4</a:t>
            </a:r>
          </a:p>
        </p:txBody>
      </p:sp>
    </p:spTree>
    <p:extLst>
      <p:ext uri="{BB962C8B-B14F-4D97-AF65-F5344CB8AC3E}">
        <p14:creationId xmlns:p14="http://schemas.microsoft.com/office/powerpoint/2010/main" val="11841509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7B52-12E3-4763-9C88-0FAA7B6C2CD7}"/>
              </a:ext>
            </a:extLst>
          </p:cNvPr>
          <p:cNvSpPr>
            <a:spLocks noGrp="1"/>
          </p:cNvSpPr>
          <p:nvPr>
            <p:ph type="title"/>
          </p:nvPr>
        </p:nvSpPr>
        <p:spPr/>
        <p:txBody>
          <a:bodyPr/>
          <a:lstStyle/>
          <a:p>
            <a:r>
              <a:rPr lang="en-US" dirty="0"/>
              <a:t>Lab 1.03 – Section 4 Discussion</a:t>
            </a:r>
          </a:p>
        </p:txBody>
      </p:sp>
      <p:sp>
        <p:nvSpPr>
          <p:cNvPr id="3" name="Content Placeholder 2">
            <a:extLst>
              <a:ext uri="{FF2B5EF4-FFF2-40B4-BE49-F238E27FC236}">
                <a16:creationId xmlns:a16="http://schemas.microsoft.com/office/drawing/2014/main" id="{5DA1FEEE-D66C-46CD-A242-00F7049CBCA6}"/>
              </a:ext>
            </a:extLst>
          </p:cNvPr>
          <p:cNvSpPr>
            <a:spLocks noGrp="1"/>
          </p:cNvSpPr>
          <p:nvPr>
            <p:ph sz="quarter" idx="10"/>
          </p:nvPr>
        </p:nvSpPr>
        <p:spPr>
          <a:xfrm>
            <a:off x="584200" y="1435100"/>
            <a:ext cx="11018838" cy="1465016"/>
          </a:xfrm>
        </p:spPr>
        <p:txBody>
          <a:bodyPr/>
          <a:lstStyle/>
          <a:p>
            <a:r>
              <a:rPr lang="en-US" dirty="0"/>
              <a:t>What error did you get? </a:t>
            </a:r>
          </a:p>
          <a:p>
            <a:r>
              <a:rPr lang="en-US" dirty="0"/>
              <a:t>What do you think that means?</a:t>
            </a:r>
          </a:p>
          <a:p>
            <a:r>
              <a:rPr lang="en-US" dirty="0"/>
              <a:t>What happens when you multiply strings?</a:t>
            </a:r>
          </a:p>
        </p:txBody>
      </p:sp>
    </p:spTree>
    <p:extLst>
      <p:ext uri="{BB962C8B-B14F-4D97-AF65-F5344CB8AC3E}">
        <p14:creationId xmlns:p14="http://schemas.microsoft.com/office/powerpoint/2010/main" val="283125924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0FDC-4ED0-4A9E-8AD3-4D19C98A75B7}"/>
              </a:ext>
            </a:extLst>
          </p:cNvPr>
          <p:cNvSpPr>
            <a:spLocks noGrp="1"/>
          </p:cNvSpPr>
          <p:nvPr>
            <p:ph type="title"/>
          </p:nvPr>
        </p:nvSpPr>
        <p:spPr/>
        <p:txBody>
          <a:bodyPr/>
          <a:lstStyle/>
          <a:p>
            <a:r>
              <a:rPr lang="en-US" dirty="0"/>
              <a:t>Lab Part 2</a:t>
            </a:r>
          </a:p>
        </p:txBody>
      </p:sp>
      <p:sp>
        <p:nvSpPr>
          <p:cNvPr id="3" name="Content Placeholder 2">
            <a:extLst>
              <a:ext uri="{FF2B5EF4-FFF2-40B4-BE49-F238E27FC236}">
                <a16:creationId xmlns:a16="http://schemas.microsoft.com/office/drawing/2014/main" id="{E4282342-D63B-4727-86CD-5C239AEF5408}"/>
              </a:ext>
            </a:extLst>
          </p:cNvPr>
          <p:cNvSpPr>
            <a:spLocks noGrp="1"/>
          </p:cNvSpPr>
          <p:nvPr>
            <p:ph sz="quarter" idx="10"/>
          </p:nvPr>
        </p:nvSpPr>
        <p:spPr>
          <a:xfrm>
            <a:off x="584200" y="1435100"/>
            <a:ext cx="11018838" cy="2117503"/>
          </a:xfrm>
        </p:spPr>
        <p:txBody>
          <a:bodyPr/>
          <a:lstStyle/>
          <a:p>
            <a:r>
              <a:rPr lang="en-US" dirty="0"/>
              <a:t>Define expression: a combination of values and operators (and variables)</a:t>
            </a:r>
          </a:p>
          <a:p>
            <a:r>
              <a:rPr lang="en-US" dirty="0"/>
              <a:t>In your notebook,</a:t>
            </a:r>
          </a:p>
          <a:p>
            <a:pPr lvl="1"/>
            <a:r>
              <a:rPr lang="en-US" dirty="0"/>
              <a:t>Give an example of an expression</a:t>
            </a:r>
          </a:p>
          <a:p>
            <a:pPr lvl="1"/>
            <a:r>
              <a:rPr lang="en-US" dirty="0"/>
              <a:t>Write down their predictions before going to the interpreter/IDE to check the actual output.</a:t>
            </a:r>
          </a:p>
        </p:txBody>
      </p:sp>
    </p:spTree>
    <p:extLst>
      <p:ext uri="{BB962C8B-B14F-4D97-AF65-F5344CB8AC3E}">
        <p14:creationId xmlns:p14="http://schemas.microsoft.com/office/powerpoint/2010/main" val="52272133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1.03: </a:t>
            </a:r>
            <a:r>
              <a:rPr lang="en-US" dirty="0"/>
              <a:t>Script Mode and Variables</a:t>
            </a:r>
            <a:endParaRPr lang="en-US" b="1" dirty="0"/>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199" y="3962400"/>
            <a:ext cx="11244007" cy="1015663"/>
          </a:xfrm>
        </p:spPr>
        <p:txBody>
          <a:bodyPr/>
          <a:lstStyle/>
          <a:p>
            <a:r>
              <a:rPr lang="en-US" dirty="0">
                <a:cs typeface="Segoe UI"/>
              </a:rPr>
              <a:t>Microsoft Philanthropies TEALS Program</a:t>
            </a:r>
          </a:p>
          <a:p>
            <a:r>
              <a:rPr lang="en-US" dirty="0">
                <a:cs typeface="Segoe UI"/>
              </a:rPr>
              <a:t>Introduction to Computer Science</a:t>
            </a:r>
          </a:p>
          <a:p>
            <a:r>
              <a:rPr lang="en-US" dirty="0">
                <a:cs typeface="Segoe UI"/>
              </a:rPr>
              <a:t>Semester 2</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3"/>
          <a:stretch>
            <a:fillRect/>
          </a:stretch>
        </p:blipFill>
        <p:spPr>
          <a:xfrm>
            <a:off x="8979958" y="6338182"/>
            <a:ext cx="3105150" cy="390525"/>
          </a:xfrm>
          <a:prstGeom prst="rect">
            <a:avLst/>
          </a:prstGeom>
        </p:spPr>
      </p:pic>
    </p:spTree>
    <p:custDataLst>
      <p:tags r:id="rId1"/>
    </p:custDataLst>
    <p:extLst>
      <p:ext uri="{BB962C8B-B14F-4D97-AF65-F5344CB8AC3E}">
        <p14:creationId xmlns:p14="http://schemas.microsoft.com/office/powerpoint/2010/main" val="342412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t>Script Mode and Variables</a:t>
            </a:r>
            <a:endParaRPr lang="en-US" b="1" dirty="0"/>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344709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script</a:t>
            </a:r>
            <a:r>
              <a:rPr lang="en-US" dirty="0"/>
              <a:t>, </a:t>
            </a:r>
            <a:r>
              <a:rPr lang="en-US" b="1" dirty="0"/>
              <a:t>print</a:t>
            </a:r>
            <a:r>
              <a:rPr lang="en-US" dirty="0"/>
              <a:t>, </a:t>
            </a:r>
            <a:r>
              <a:rPr lang="en-US" b="1" dirty="0"/>
              <a:t>run</a:t>
            </a:r>
            <a:r>
              <a:rPr lang="en-US" dirty="0"/>
              <a:t>, </a:t>
            </a:r>
            <a:r>
              <a:rPr lang="en-US" b="1" dirty="0"/>
              <a:t>output</a:t>
            </a:r>
            <a:r>
              <a:rPr lang="en-US" dirty="0"/>
              <a:t>, </a:t>
            </a:r>
            <a:r>
              <a:rPr lang="en-US" b="1" dirty="0"/>
              <a:t>variable</a:t>
            </a:r>
          </a:p>
          <a:p>
            <a:pPr marL="342900" indent="-342900">
              <a:buFont typeface="Arial" panose="020B0604020202020204" pitchFamily="34" charset="0"/>
              <a:buChar char="•"/>
            </a:pPr>
            <a:r>
              <a:rPr lang="en-US" dirty="0"/>
              <a:t>Write a simple script and run it in the text editor</a:t>
            </a:r>
          </a:p>
          <a:p>
            <a:pPr marL="342900" indent="-342900">
              <a:buFont typeface="Arial" panose="020B0604020202020204" pitchFamily="34" charset="0"/>
              <a:buChar char="•"/>
            </a:pPr>
            <a:r>
              <a:rPr lang="en-US" dirty="0"/>
              <a:t>Print values out to the console (both composed values and from variables)</a:t>
            </a:r>
          </a:p>
          <a:p>
            <a:pPr marL="342900" indent="-342900">
              <a:buFont typeface="Arial" panose="020B0604020202020204" pitchFamily="34" charset="0"/>
              <a:buChar char="•"/>
            </a:pPr>
            <a:r>
              <a:rPr lang="en-US" dirty="0"/>
              <a:t>Compare script mode vs interactive mode</a:t>
            </a:r>
          </a:p>
          <a:p>
            <a:pPr marL="342900" indent="-342900">
              <a:buFont typeface="Arial" panose="020B0604020202020204" pitchFamily="34" charset="0"/>
              <a:buChar char="•"/>
            </a:pPr>
            <a:r>
              <a:rPr lang="en-US" dirty="0"/>
              <a:t>Know how to store a value into a variable</a:t>
            </a:r>
          </a:p>
        </p:txBody>
      </p:sp>
    </p:spTree>
    <p:custDataLst>
      <p:tags r:id="rId1"/>
    </p:custDataLst>
    <p:extLst>
      <p:ext uri="{BB962C8B-B14F-4D97-AF65-F5344CB8AC3E}">
        <p14:creationId xmlns:p14="http://schemas.microsoft.com/office/powerpoint/2010/main" val="34965774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222147"/>
          </a:xfrm>
        </p:spPr>
        <p:txBody>
          <a:bodyPr/>
          <a:lstStyle/>
          <a:p>
            <a:r>
              <a:rPr lang="en-US" sz="1800" b="1" dirty="0"/>
              <a:t>Day 1</a:t>
            </a:r>
          </a:p>
          <a:p>
            <a:r>
              <a:rPr lang="en-US" sz="1800" dirty="0"/>
              <a:t>Do Now</a:t>
            </a:r>
          </a:p>
          <a:p>
            <a:r>
              <a:rPr lang="en-US" sz="1800" dirty="0"/>
              <a:t>Lesson</a:t>
            </a:r>
          </a:p>
          <a:p>
            <a:r>
              <a:rPr lang="en-US" sz="1800" dirty="0"/>
              <a:t>Lab</a:t>
            </a:r>
          </a:p>
          <a:p>
            <a:r>
              <a:rPr lang="en-US" sz="1800" dirty="0"/>
              <a:t>Debrief</a:t>
            </a:r>
          </a:p>
        </p:txBody>
      </p:sp>
    </p:spTree>
    <p:custDataLst>
      <p:tags r:id="rId1"/>
    </p:custDataLst>
    <p:extLst>
      <p:ext uri="{BB962C8B-B14F-4D97-AF65-F5344CB8AC3E}">
        <p14:creationId xmlns:p14="http://schemas.microsoft.com/office/powerpoint/2010/main" val="373308689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Do Now</a:t>
            </a:r>
          </a:p>
        </p:txBody>
      </p:sp>
      <p:sp>
        <p:nvSpPr>
          <p:cNvPr id="5" name="Content Placeholder 4">
            <a:extLst>
              <a:ext uri="{FF2B5EF4-FFF2-40B4-BE49-F238E27FC236}">
                <a16:creationId xmlns:a16="http://schemas.microsoft.com/office/drawing/2014/main" id="{91C6D39E-EAF2-4C23-AB65-59319345A4AE}"/>
              </a:ext>
            </a:extLst>
          </p:cNvPr>
          <p:cNvSpPr>
            <a:spLocks noGrp="1"/>
          </p:cNvSpPr>
          <p:nvPr>
            <p:ph sz="quarter" idx="12"/>
          </p:nvPr>
        </p:nvSpPr>
        <p:spPr>
          <a:xfrm>
            <a:off x="584200" y="1435100"/>
            <a:ext cx="5211763" cy="3730252"/>
          </a:xfrm>
        </p:spPr>
        <p:txBody>
          <a:bodyPr/>
          <a:lstStyle/>
          <a:p>
            <a:r>
              <a:rPr lang="en-US" sz="2400" dirty="0"/>
              <a:t>Open and save a new notebook called DoNow103 in Collab. </a:t>
            </a:r>
          </a:p>
          <a:p>
            <a:r>
              <a:rPr lang="en-US" sz="2400" dirty="0"/>
              <a:t>Run a cell by clicking the        Play button. </a:t>
            </a:r>
          </a:p>
          <a:p>
            <a:r>
              <a:rPr lang="en-US" sz="2400" dirty="0"/>
              <a:t>Practice typing the following expressions in the editor and running the code.</a:t>
            </a:r>
          </a:p>
          <a:p>
            <a:pPr lvl="1"/>
            <a:r>
              <a:rPr lang="en-US" sz="1800" dirty="0"/>
              <a:t>2 * 3 * 5</a:t>
            </a:r>
          </a:p>
          <a:p>
            <a:pPr lvl="1"/>
            <a:r>
              <a:rPr lang="en-US" sz="1800" dirty="0"/>
              <a:t>"abc“</a:t>
            </a:r>
          </a:p>
          <a:p>
            <a:pPr lvl="1"/>
            <a:r>
              <a:rPr lang="en-US" sz="1800" dirty="0"/>
              <a:t>"abc" + "</a:t>
            </a:r>
            <a:r>
              <a:rPr lang="en-US" sz="1800" dirty="0" err="1"/>
              <a:t>bde</a:t>
            </a:r>
            <a:r>
              <a:rPr lang="en-US" sz="1800" dirty="0"/>
              <a:t>"</a:t>
            </a:r>
          </a:p>
        </p:txBody>
      </p:sp>
      <p:sp>
        <p:nvSpPr>
          <p:cNvPr id="7" name="Rectangle 6">
            <a:extLst>
              <a:ext uri="{FF2B5EF4-FFF2-40B4-BE49-F238E27FC236}">
                <a16:creationId xmlns:a16="http://schemas.microsoft.com/office/drawing/2014/main" id="{F3A46915-3853-4306-9687-C2BAECE73258}"/>
              </a:ext>
            </a:extLst>
          </p:cNvPr>
          <p:cNvSpPr/>
          <p:nvPr/>
        </p:nvSpPr>
        <p:spPr>
          <a:xfrm>
            <a:off x="6396039" y="1338866"/>
            <a:ext cx="5333117" cy="2308324"/>
          </a:xfrm>
          <a:prstGeom prst="rect">
            <a:avLst/>
          </a:prstGeom>
        </p:spPr>
        <p:txBody>
          <a:bodyPr wrap="square">
            <a:spAutoFit/>
          </a:bodyPr>
          <a:lstStyle/>
          <a:p>
            <a:r>
              <a:rPr lang="en-US" sz="2400" dirty="0"/>
              <a:t>Now try typing the statement below into the file. </a:t>
            </a:r>
          </a:p>
          <a:p>
            <a:endParaRPr lang="en-US" sz="2400" dirty="0"/>
          </a:p>
          <a:p>
            <a:r>
              <a:rPr lang="en-US" sz="2400" dirty="0"/>
              <a:t>Save and run the code</a:t>
            </a:r>
          </a:p>
          <a:p>
            <a:endParaRPr lang="en-US" sz="2400" dirty="0"/>
          </a:p>
          <a:p>
            <a:r>
              <a:rPr lang="en-US" sz="2400" dirty="0">
                <a:latin typeface="Consolas" panose="020B0609020204030204" pitchFamily="49" charset="0"/>
              </a:rPr>
              <a:t>1. print(2*3*5)</a:t>
            </a:r>
          </a:p>
        </p:txBody>
      </p:sp>
      <p:pic>
        <p:nvPicPr>
          <p:cNvPr id="2" name="Picture 1">
            <a:extLst>
              <a:ext uri="{FF2B5EF4-FFF2-40B4-BE49-F238E27FC236}">
                <a16:creationId xmlns:a16="http://schemas.microsoft.com/office/drawing/2014/main" id="{DDC80ED0-0E86-4245-8DF3-7DF84CAAF274}"/>
              </a:ext>
            </a:extLst>
          </p:cNvPr>
          <p:cNvPicPr>
            <a:picLocks noChangeAspect="1"/>
          </p:cNvPicPr>
          <p:nvPr/>
        </p:nvPicPr>
        <p:blipFill>
          <a:blip r:embed="rId4"/>
          <a:stretch>
            <a:fillRect/>
          </a:stretch>
        </p:blipFill>
        <p:spPr>
          <a:xfrm>
            <a:off x="4247606" y="2206534"/>
            <a:ext cx="457200" cy="381000"/>
          </a:xfrm>
          <a:prstGeom prst="rect">
            <a:avLst/>
          </a:prstGeom>
        </p:spPr>
      </p:pic>
    </p:spTree>
    <p:custDataLst>
      <p:tags r:id="rId1"/>
    </p:custDataLst>
    <p:extLst>
      <p:ext uri="{BB962C8B-B14F-4D97-AF65-F5344CB8AC3E}">
        <p14:creationId xmlns:p14="http://schemas.microsoft.com/office/powerpoint/2010/main" val="98421636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2"/>
          <p:cNvSpPr txBox="1">
            <a:spLocks noGrp="1"/>
          </p:cNvSpPr>
          <p:nvPr>
            <p:ph type="title"/>
          </p:nvPr>
        </p:nvSpPr>
        <p:spPr>
          <a:xfrm>
            <a:off x="588263" y="457199"/>
            <a:ext cx="11018520" cy="835863"/>
          </a:xfrm>
          <a:prstGeom prst="rect">
            <a:avLst/>
          </a:prstGeom>
        </p:spPr>
        <p:txBody>
          <a:bodyPr spcFirstLastPara="1" vert="horz" wrap="square" lIns="121900" tIns="121900" rIns="121900" bIns="121900" rtlCol="0" anchor="t" anchorCtr="0">
            <a:noAutofit/>
          </a:bodyPr>
          <a:lstStyle/>
          <a:p>
            <a:r>
              <a:rPr lang="en-US" b="1" dirty="0"/>
              <a:t>Print Statement </a:t>
            </a:r>
            <a:endParaRPr dirty="0"/>
          </a:p>
        </p:txBody>
      </p:sp>
      <p:sp>
        <p:nvSpPr>
          <p:cNvPr id="2" name="Content Placeholder 1">
            <a:extLst>
              <a:ext uri="{FF2B5EF4-FFF2-40B4-BE49-F238E27FC236}">
                <a16:creationId xmlns:a16="http://schemas.microsoft.com/office/drawing/2014/main" id="{B24C80EE-BC1B-4781-A238-59C31B3173E8}"/>
              </a:ext>
            </a:extLst>
          </p:cNvPr>
          <p:cNvSpPr>
            <a:spLocks noGrp="1"/>
          </p:cNvSpPr>
          <p:nvPr>
            <p:ph sz="quarter" idx="10"/>
          </p:nvPr>
        </p:nvSpPr>
        <p:spPr>
          <a:xfrm>
            <a:off x="584200" y="1435100"/>
            <a:ext cx="11018838" cy="430887"/>
          </a:xfrm>
        </p:spPr>
        <p:txBody>
          <a:bodyPr/>
          <a:lstStyle/>
          <a:p>
            <a:pPr marL="0" indent="0">
              <a:buNone/>
            </a:pPr>
            <a:r>
              <a:rPr lang="en-US" dirty="0">
                <a:latin typeface="Consolas" panose="020B0609020204030204" pitchFamily="49" charset="0"/>
              </a:rPr>
              <a:t>print(“Betty Blue”)</a:t>
            </a:r>
          </a:p>
        </p:txBody>
      </p:sp>
      <p:pic>
        <p:nvPicPr>
          <p:cNvPr id="3" name="Picture 2">
            <a:extLst>
              <a:ext uri="{FF2B5EF4-FFF2-40B4-BE49-F238E27FC236}">
                <a16:creationId xmlns:a16="http://schemas.microsoft.com/office/drawing/2014/main" id="{2D846A69-E986-A648-B188-5A6DC27312A3}"/>
              </a:ext>
            </a:extLst>
          </p:cNvPr>
          <p:cNvPicPr>
            <a:picLocks noChangeAspect="1"/>
          </p:cNvPicPr>
          <p:nvPr/>
        </p:nvPicPr>
        <p:blipFill>
          <a:blip r:embed="rId4"/>
          <a:stretch>
            <a:fillRect/>
          </a:stretch>
        </p:blipFill>
        <p:spPr>
          <a:xfrm>
            <a:off x="6270171" y="1435100"/>
            <a:ext cx="4916587" cy="1725118"/>
          </a:xfrm>
          <a:prstGeom prst="rect">
            <a:avLst/>
          </a:prstGeom>
        </p:spPr>
      </p:pic>
    </p:spTree>
    <p:custDataLst>
      <p:tags r:id="rId1"/>
    </p:custData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prstGeom prst="rect">
            <a:avLst/>
          </a:prstGeom>
          <a:noFill/>
          <a:ln>
            <a:noFill/>
          </a:ln>
        </p:spPr>
        <p:txBody>
          <a:bodyPr vert="horz" wrap="square" lIns="91425" tIns="45700" rIns="91425" bIns="45700" rtlCol="0" anchor="b" anchorCtr="0">
            <a:noAutofit/>
          </a:bodyPr>
          <a:lstStyle/>
          <a:p>
            <a:pPr>
              <a:spcBef>
                <a:spcPts val="0"/>
              </a:spcBef>
              <a:buClr>
                <a:schemeClr val="accent1"/>
              </a:buClr>
              <a:buSzPct val="25000"/>
            </a:pPr>
            <a:r>
              <a:rPr lang="en-US" dirty="0">
                <a:sym typeface="Source Sans Pro"/>
              </a:rPr>
              <a:t>Variables</a:t>
            </a:r>
            <a:endParaRPr lang="en-US" sz="4600" dirty="0">
              <a:solidFill>
                <a:schemeClr val="accent1"/>
              </a:solidFill>
              <a:latin typeface="Source Sans Pro"/>
              <a:ea typeface="Source Sans Pro"/>
              <a:cs typeface="Source Sans Pro"/>
              <a:sym typeface="Source Sans Pro"/>
            </a:endParaRPr>
          </a:p>
        </p:txBody>
      </p:sp>
      <p:sp>
        <p:nvSpPr>
          <p:cNvPr id="138" name="Shape 138"/>
          <p:cNvSpPr txBox="1">
            <a:spLocks noGrp="1"/>
          </p:cNvSpPr>
          <p:nvPr>
            <p:ph type="body" sz="quarter" idx="10"/>
          </p:nvPr>
        </p:nvSpPr>
        <p:spPr>
          <a:xfrm>
            <a:off x="586390" y="1434369"/>
            <a:ext cx="11018520" cy="2844119"/>
          </a:xfrm>
          <a:prstGeom prst="rect">
            <a:avLst/>
          </a:prstGeom>
          <a:noFill/>
          <a:ln>
            <a:noFill/>
          </a:ln>
        </p:spPr>
        <p:txBody>
          <a:bodyPr vert="horz" wrap="square" lIns="91425" tIns="45700" rIns="91425" bIns="45700" rtlCol="0" anchor="t" anchorCtr="0">
            <a:noAutofit/>
          </a:bodyPr>
          <a:lstStyle/>
          <a:p>
            <a:pPr marL="349250" indent="-349250">
              <a:spcBef>
                <a:spcPts val="0"/>
              </a:spcBef>
              <a:buSzPct val="110000"/>
              <a:buFont typeface="Arial" panose="020B0604020202020204" pitchFamily="34" charset="0"/>
              <a:buChar char="•"/>
            </a:pPr>
            <a:r>
              <a:rPr lang="en-US" sz="2400" dirty="0">
                <a:ea typeface="Source Sans Pro"/>
                <a:cs typeface="Source Sans Pro"/>
                <a:sym typeface="Source Sans Pro"/>
              </a:rPr>
              <a:t>A name that refers to a value</a:t>
            </a:r>
          </a:p>
          <a:p>
            <a:pPr marL="349250" indent="-349250">
              <a:spcBef>
                <a:spcPts val="2000"/>
              </a:spcBef>
              <a:buSzPct val="110000"/>
              <a:buFont typeface="Arial" panose="020B0604020202020204" pitchFamily="34" charset="0"/>
              <a:buChar char="•"/>
            </a:pPr>
            <a:r>
              <a:rPr lang="en-US" sz="2400" dirty="0">
                <a:ea typeface="Source Sans Pro"/>
                <a:cs typeface="Source Sans Pro"/>
                <a:sym typeface="Source Sans Pro"/>
              </a:rPr>
              <a:t>An assignment statement creates new variables and gives them values:</a:t>
            </a:r>
          </a:p>
          <a:p>
            <a:pPr marL="444500">
              <a:spcBef>
                <a:spcPts val="0"/>
              </a:spcBef>
              <a:buClr>
                <a:srgbClr val="6DB7D7"/>
              </a:buClr>
              <a:buSzPct val="110000"/>
            </a:pPr>
            <a:r>
              <a:rPr lang="en-US" sz="2400" dirty="0">
                <a:latin typeface="Consolas" panose="020B0609020204030204" pitchFamily="49" charset="0"/>
                <a:sym typeface="Source Sans Pro"/>
              </a:rPr>
              <a:t>&gt;&gt;&gt; </a:t>
            </a:r>
            <a:r>
              <a:rPr lang="en-US" sz="2400" dirty="0" err="1">
                <a:latin typeface="Consolas" panose="020B0609020204030204" pitchFamily="49" charset="0"/>
                <a:sym typeface="Source Sans Pro"/>
              </a:rPr>
              <a:t>n</a:t>
            </a:r>
            <a:r>
              <a:rPr lang="en-US" sz="2400" dirty="0">
                <a:latin typeface="Consolas" panose="020B0609020204030204" pitchFamily="49" charset="0"/>
                <a:sym typeface="Source Sans Pro"/>
              </a:rPr>
              <a:t> = 17</a:t>
            </a:r>
          </a:p>
          <a:p>
            <a:pPr marL="444500">
              <a:spcBef>
                <a:spcPts val="0"/>
              </a:spcBef>
              <a:buClr>
                <a:srgbClr val="6DB7D7"/>
              </a:buClr>
              <a:buSzPct val="110000"/>
            </a:pPr>
            <a:r>
              <a:rPr lang="en-US" sz="2400" dirty="0">
                <a:latin typeface="Consolas" panose="020B0609020204030204" pitchFamily="49" charset="0"/>
                <a:sym typeface="Source Sans Pro"/>
              </a:rPr>
              <a:t>&gt;&gt;&gt; pi = 3.1415926535897932</a:t>
            </a:r>
          </a:p>
          <a:p>
            <a:pPr marL="444500">
              <a:spcBef>
                <a:spcPts val="0"/>
              </a:spcBef>
              <a:buClr>
                <a:srgbClr val="6DB7D7"/>
              </a:buClr>
              <a:buSzPct val="110000"/>
            </a:pPr>
            <a:r>
              <a:rPr lang="en-US" sz="2400" dirty="0">
                <a:latin typeface="Consolas" panose="020B0609020204030204" pitchFamily="49" charset="0"/>
                <a:sym typeface="Source Sans Pro"/>
              </a:rPr>
              <a:t>&gt;&gt;&gt; message = 'And now for something completely different’</a:t>
            </a:r>
            <a:endParaRPr lang="en-US" dirty="0">
              <a:latin typeface="Consolas" panose="020B0609020204030204" pitchFamily="49" charset="0"/>
              <a:sym typeface="Source Sans Pro"/>
            </a:endParaRPr>
          </a:p>
          <a:p>
            <a:pPr marL="342900" indent="-342900">
              <a:buFont typeface="Arial" panose="020B0604020202020204" pitchFamily="34" charset="0"/>
              <a:buChar char="•"/>
            </a:pPr>
            <a:r>
              <a:rPr lang="en-US" sz="2400" dirty="0">
                <a:ea typeface="Source Sans Pro"/>
                <a:cs typeface="Source Sans Pro"/>
                <a:sym typeface="Source Sans Pro"/>
              </a:rPr>
              <a:t>Which are assignments and which are the variables?</a:t>
            </a:r>
          </a:p>
          <a:p>
            <a:pPr marL="349250" indent="-349250">
              <a:spcBef>
                <a:spcPts val="2000"/>
              </a:spcBef>
              <a:buClr>
                <a:srgbClr val="6DB7D7"/>
              </a:buClr>
              <a:buSzPct val="110000"/>
              <a:buNone/>
            </a:pPr>
            <a:endParaRPr sz="2400" dirty="0">
              <a:solidFill>
                <a:srgbClr val="595959"/>
              </a:solidFill>
              <a:ea typeface="Source Sans Pro"/>
              <a:cs typeface="Source Sans Pro"/>
              <a:sym typeface="Source Sans Pro"/>
            </a:endParaRPr>
          </a:p>
        </p:txBody>
      </p:sp>
    </p:spTree>
    <p:custDataLst>
      <p:tags r:id="rId1"/>
    </p:custData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prstGeom prst="rect">
            <a:avLst/>
          </a:prstGeom>
        </p:spPr>
        <p:txBody>
          <a:bodyPr vert="horz" wrap="square" lIns="91425" tIns="91425" rIns="91425" bIns="91425" rtlCol="0" anchor="b" anchorCtr="0">
            <a:noAutofit/>
          </a:bodyPr>
          <a:lstStyle/>
          <a:p>
            <a:pPr>
              <a:spcBef>
                <a:spcPts val="0"/>
              </a:spcBef>
            </a:pPr>
            <a:r>
              <a:rPr lang="en-US" dirty="0"/>
              <a:t>Variable Names</a:t>
            </a:r>
          </a:p>
        </p:txBody>
      </p:sp>
      <p:sp>
        <p:nvSpPr>
          <p:cNvPr id="145" name="Shape 145"/>
          <p:cNvSpPr txBox="1">
            <a:spLocks noGrp="1"/>
          </p:cNvSpPr>
          <p:nvPr>
            <p:ph sz="quarter" idx="10"/>
          </p:nvPr>
        </p:nvSpPr>
        <p:spPr>
          <a:prstGeom prst="rect">
            <a:avLst/>
          </a:prstGeom>
        </p:spPr>
        <p:txBody>
          <a:bodyPr vert="horz" wrap="square" lIns="91425" tIns="91425" rIns="91425" bIns="91425" rtlCol="0" anchor="t" anchorCtr="0">
            <a:noAutofit/>
          </a:bodyPr>
          <a:lstStyle/>
          <a:p>
            <a:pPr marL="25400" indent="0">
              <a:spcBef>
                <a:spcPts val="0"/>
              </a:spcBef>
              <a:buClr>
                <a:srgbClr val="000000"/>
              </a:buClr>
              <a:buSzPct val="100000"/>
              <a:buNone/>
            </a:pPr>
            <a:r>
              <a:rPr lang="en-US" sz="3200" b="1" dirty="0">
                <a:solidFill>
                  <a:srgbClr val="000000"/>
                </a:solidFill>
              </a:rPr>
              <a:t>Variable names</a:t>
            </a:r>
            <a:r>
              <a:rPr lang="en-US" sz="3200" dirty="0">
                <a:solidFill>
                  <a:srgbClr val="000000"/>
                </a:solidFill>
              </a:rPr>
              <a:t> - letters, numbers and some punctuation marks are legal</a:t>
            </a:r>
          </a:p>
          <a:p>
            <a:pPr marL="685800" lvl="1" indent="-431800">
              <a:spcBef>
                <a:spcPts val="0"/>
              </a:spcBef>
              <a:buClr>
                <a:srgbClr val="000000"/>
              </a:buClr>
              <a:buSzPct val="100000"/>
            </a:pPr>
            <a:r>
              <a:rPr lang="en-US" sz="2400" dirty="0">
                <a:solidFill>
                  <a:srgbClr val="000000"/>
                </a:solidFill>
              </a:rPr>
              <a:t>The first character can’t be a number. </a:t>
            </a:r>
          </a:p>
          <a:p>
            <a:pPr marL="685800" lvl="1" indent="-431800">
              <a:spcBef>
                <a:spcPts val="0"/>
              </a:spcBef>
              <a:buClr>
                <a:srgbClr val="000000"/>
              </a:buClr>
              <a:buSzPct val="100000"/>
            </a:pPr>
            <a:r>
              <a:rPr lang="en-US" sz="2400" dirty="0">
                <a:solidFill>
                  <a:srgbClr val="000000"/>
                </a:solidFill>
              </a:rPr>
              <a:t>You can’t use a keyword as the name of a variable, and you should avoid using duplicate names</a:t>
            </a:r>
          </a:p>
          <a:p>
            <a:pPr marL="685800" lvl="1" indent="-431800">
              <a:spcBef>
                <a:spcPts val="0"/>
              </a:spcBef>
              <a:buClr>
                <a:srgbClr val="000000"/>
              </a:buClr>
              <a:buSzPct val="100000"/>
            </a:pPr>
            <a:r>
              <a:rPr lang="en-US" sz="2400" dirty="0">
                <a:solidFill>
                  <a:srgbClr val="000000"/>
                </a:solidFill>
              </a:rPr>
              <a:t>Can be of any length </a:t>
            </a:r>
          </a:p>
          <a:p>
            <a:pPr marL="685800" lvl="1" indent="-431800">
              <a:spcBef>
                <a:spcPts val="0"/>
              </a:spcBef>
              <a:buClr>
                <a:srgbClr val="000000"/>
              </a:buClr>
              <a:buSzPct val="100000"/>
            </a:pPr>
            <a:r>
              <a:rPr lang="en-US" sz="2400" dirty="0">
                <a:solidFill>
                  <a:srgbClr val="000000"/>
                </a:solidFill>
              </a:rPr>
              <a:t>Use common sense variable names</a:t>
            </a:r>
          </a:p>
        </p:txBody>
      </p:sp>
    </p:spTree>
    <p:custDataLst>
      <p:tags r:id="rId1"/>
    </p:custData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Illegal Variable Names</a:t>
            </a:r>
          </a:p>
        </p:txBody>
      </p:sp>
      <p:sp>
        <p:nvSpPr>
          <p:cNvPr id="3" name="Text Placeholder 2"/>
          <p:cNvSpPr>
            <a:spLocks noGrp="1"/>
          </p:cNvSpPr>
          <p:nvPr>
            <p:ph sz="quarter" idx="10"/>
          </p:nvPr>
        </p:nvSpPr>
        <p:spPr>
          <a:xfrm>
            <a:off x="584200" y="1435100"/>
            <a:ext cx="11018838" cy="3533275"/>
          </a:xfrm>
        </p:spPr>
        <p:txBody>
          <a:bodyPr/>
          <a:lstStyle/>
          <a:p>
            <a:r>
              <a:rPr lang="en-US" dirty="0"/>
              <a:t>If you give a variable an illegal name, you get a syntax error:</a:t>
            </a:r>
          </a:p>
          <a:p>
            <a:pPr marL="0" indent="0">
              <a:buNone/>
            </a:pPr>
            <a:r>
              <a:rPr lang="en-US" dirty="0">
                <a:latin typeface="Consolas" panose="020B0609020204030204" pitchFamily="49" charset="0"/>
                <a:ea typeface="Courier" charset="0"/>
                <a:cs typeface="Courier" charset="0"/>
              </a:rPr>
              <a:t>&gt;&gt;&gt; 76trombones = 'big parade'</a:t>
            </a:r>
          </a:p>
          <a:p>
            <a:r>
              <a:rPr lang="en-US" dirty="0"/>
              <a:t>SyntaxError: invalid syntax</a:t>
            </a:r>
          </a:p>
          <a:p>
            <a:pPr marL="0" indent="0">
              <a:buNone/>
            </a:pPr>
            <a:r>
              <a:rPr lang="en-US" dirty="0">
                <a:latin typeface="Consolas" panose="020B0609020204030204" pitchFamily="49" charset="0"/>
                <a:ea typeface="Courier" charset="0"/>
                <a:cs typeface="Courier" charset="0"/>
              </a:rPr>
              <a:t>&gt;&gt;&gt; more@ = 1000000</a:t>
            </a:r>
          </a:p>
          <a:p>
            <a:r>
              <a:rPr lang="en-US" dirty="0"/>
              <a:t>SyntaxError: invalid syntax</a:t>
            </a:r>
          </a:p>
          <a:p>
            <a:pPr marL="0" indent="0">
              <a:buNone/>
            </a:pPr>
            <a:r>
              <a:rPr lang="en-US" dirty="0">
                <a:latin typeface="Consolas" panose="020B0609020204030204" pitchFamily="49" charset="0"/>
                <a:ea typeface="Courier" charset="0"/>
                <a:cs typeface="Courier" charset="0"/>
              </a:rPr>
              <a:t>&gt;&gt;&gt; class = 'Advanced Theoretical Zymurgy'</a:t>
            </a:r>
          </a:p>
          <a:p>
            <a:r>
              <a:rPr lang="en-US" dirty="0"/>
              <a:t>SyntaxError: invalid syntax</a:t>
            </a:r>
          </a:p>
        </p:txBody>
      </p:sp>
    </p:spTree>
    <p:custDataLst>
      <p:tags r:id="rId1"/>
    </p:custData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prstGeom prst="rect">
            <a:avLst/>
          </a:prstGeom>
          <a:noFill/>
          <a:ln>
            <a:noFill/>
          </a:ln>
        </p:spPr>
        <p:txBody>
          <a:bodyPr vert="horz" wrap="square" lIns="91425" tIns="45700" rIns="91425" bIns="45700" rtlCol="0" anchor="b" anchorCtr="0">
            <a:noAutofit/>
          </a:bodyPr>
          <a:lstStyle/>
          <a:p>
            <a:pPr>
              <a:spcBef>
                <a:spcPts val="0"/>
              </a:spcBef>
              <a:buClr>
                <a:schemeClr val="accent1"/>
              </a:buClr>
              <a:buSzPct val="25000"/>
            </a:pPr>
            <a:r>
              <a:rPr lang="en-US" dirty="0">
                <a:sym typeface="Source Sans Pro"/>
              </a:rPr>
              <a:t>Variables Exercise – Lab Assignment Sections 1 and 2</a:t>
            </a:r>
          </a:p>
        </p:txBody>
      </p:sp>
      <p:sp>
        <p:nvSpPr>
          <p:cNvPr id="151" name="Shape 151"/>
          <p:cNvSpPr txBox="1">
            <a:spLocks noGrp="1"/>
          </p:cNvSpPr>
          <p:nvPr>
            <p:ph sz="quarter" idx="10"/>
          </p:nvPr>
        </p:nvSpPr>
        <p:spPr>
          <a:prstGeom prst="rect">
            <a:avLst/>
          </a:prstGeom>
          <a:noFill/>
          <a:ln>
            <a:noFill/>
          </a:ln>
        </p:spPr>
        <p:txBody>
          <a:bodyPr vert="horz" wrap="square" lIns="91425" tIns="45700" rIns="91425" bIns="45700" rtlCol="0" anchor="t" anchorCtr="0">
            <a:noAutofit/>
          </a:bodyPr>
          <a:lstStyle/>
          <a:p>
            <a:pPr marL="0" indent="0">
              <a:spcBef>
                <a:spcPts val="0"/>
              </a:spcBef>
              <a:buSzPct val="110000"/>
              <a:buNone/>
            </a:pPr>
            <a:r>
              <a:rPr lang="en-US" sz="2400" dirty="0">
                <a:solidFill>
                  <a:srgbClr val="595959"/>
                </a:solidFill>
                <a:latin typeface="Source Sans Pro"/>
                <a:ea typeface="Source Sans Pro"/>
                <a:cs typeface="Source Sans Pro"/>
                <a:sym typeface="Source Sans Pro"/>
              </a:rPr>
              <a:t>Type and run the following code.</a:t>
            </a:r>
          </a:p>
          <a:p>
            <a:pPr marL="673100" indent="0">
              <a:spcBef>
                <a:spcPts val="0"/>
              </a:spcBef>
              <a:buSzPct val="110000"/>
              <a:buNone/>
            </a:pPr>
            <a:endParaRPr lang="en-US" sz="2400" dirty="0">
              <a:solidFill>
                <a:srgbClr val="595959"/>
              </a:solidFill>
              <a:latin typeface="Consolas" panose="020B0609020204030204" pitchFamily="49" charset="0"/>
              <a:ea typeface="Courier" charset="0"/>
              <a:cs typeface="Courier" charset="0"/>
              <a:sym typeface="Source Sans Pro"/>
            </a:endParaRP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animal = "dogs"</a:t>
            </a: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print(animal + " are really cool.")</a:t>
            </a:r>
          </a:p>
          <a:p>
            <a:pPr marL="50800" indent="0">
              <a:spcBef>
                <a:spcPts val="2000"/>
              </a:spcBef>
              <a:buSzPct val="110000"/>
              <a:buNone/>
            </a:pPr>
            <a:r>
              <a:rPr lang="en-US" sz="2400" dirty="0">
                <a:solidFill>
                  <a:srgbClr val="595959"/>
                </a:solidFill>
                <a:latin typeface="Source Sans Pro"/>
                <a:ea typeface="Source Sans Pro"/>
                <a:cs typeface="Source Sans Pro"/>
                <a:sym typeface="Source Sans Pro"/>
              </a:rPr>
              <a:t>Type and run the following code.</a:t>
            </a:r>
            <a:br>
              <a:rPr lang="en-US" sz="2400" dirty="0">
                <a:solidFill>
                  <a:srgbClr val="595959"/>
                </a:solidFill>
                <a:latin typeface="Source Sans Pro"/>
                <a:ea typeface="Source Sans Pro"/>
                <a:cs typeface="Source Sans Pro"/>
                <a:sym typeface="Source Sans Pro"/>
              </a:rPr>
            </a:br>
            <a:endParaRPr lang="en-US" sz="2400" dirty="0">
              <a:solidFill>
                <a:srgbClr val="595959"/>
              </a:solidFill>
              <a:latin typeface="Source Sans Pro"/>
              <a:ea typeface="Source Sans Pro"/>
              <a:cs typeface="Source Sans Pro"/>
              <a:sym typeface="Source Sans Pro"/>
            </a:endParaRP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print(dogs + " are cool.")</a:t>
            </a:r>
          </a:p>
          <a:p>
            <a:pPr marL="0" indent="0">
              <a:spcBef>
                <a:spcPts val="2000"/>
              </a:spcBef>
              <a:buSzPct val="110000"/>
              <a:buNone/>
            </a:pPr>
            <a:r>
              <a:rPr lang="en-US" sz="2400" dirty="0">
                <a:solidFill>
                  <a:srgbClr val="595959"/>
                </a:solidFill>
                <a:latin typeface="Source Sans Pro"/>
                <a:ea typeface="Source Sans Pro"/>
                <a:cs typeface="Source Sans Pro"/>
                <a:sym typeface="Source Sans Pro"/>
              </a:rPr>
              <a:t>Rewrite the following in Python:</a:t>
            </a:r>
          </a:p>
          <a:p>
            <a:pPr marL="1196975" indent="-523875">
              <a:spcBef>
                <a:spcPts val="2000"/>
              </a:spcBef>
              <a:buSzPct val="110000"/>
              <a:buNone/>
            </a:pPr>
            <a:endParaRPr sz="2400" dirty="0">
              <a:solidFill>
                <a:srgbClr val="595959"/>
              </a:solidFill>
              <a:latin typeface="Source Sans Pro"/>
              <a:ea typeface="Source Sans Pro"/>
              <a:cs typeface="Source Sans Pro"/>
              <a:sym typeface="Source Sans Pro"/>
            </a:endParaRPr>
          </a:p>
        </p:txBody>
      </p:sp>
      <p:pic>
        <p:nvPicPr>
          <p:cNvPr id="152" name="Shape 152" descr="Image of Snap Code&#10;set number to 100&#10;say number&#10;set number2 to 100+number&#10;say number2"/>
          <p:cNvPicPr preferRelativeResize="0"/>
          <p:nvPr/>
        </p:nvPicPr>
        <p:blipFill rotWithShape="1">
          <a:blip r:embed="rId4">
            <a:alphaModFix/>
          </a:blip>
          <a:srcRect/>
          <a:stretch/>
        </p:blipFill>
        <p:spPr>
          <a:xfrm>
            <a:off x="5302156" y="4708697"/>
            <a:ext cx="4846555" cy="1838859"/>
          </a:xfrm>
          <a:prstGeom prst="rect">
            <a:avLst/>
          </a:prstGeom>
          <a:noFill/>
          <a:ln>
            <a:noFill/>
          </a:ln>
        </p:spPr>
      </p:pic>
    </p:spTree>
    <p:custDataLst>
      <p:tags r:id="rId1"/>
    </p:custData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AED07-4C21-4C3E-B017-EA4BB727D12B}"/>
              </a:ext>
            </a:extLst>
          </p:cNvPr>
          <p:cNvSpPr>
            <a:spLocks noGrp="1"/>
          </p:cNvSpPr>
          <p:nvPr>
            <p:ph type="title"/>
          </p:nvPr>
        </p:nvSpPr>
        <p:spPr>
          <a:xfrm>
            <a:off x="588263" y="457200"/>
            <a:ext cx="11018520" cy="553998"/>
          </a:xfrm>
        </p:spPr>
        <p:txBody>
          <a:bodyPr/>
          <a:lstStyle/>
          <a:p>
            <a:r>
              <a:rPr lang="en-US" b="1" dirty="0"/>
              <a:t>Lab Part 3 - The Four Fours challenge</a:t>
            </a:r>
            <a:endParaRPr lang="en-US" dirty="0"/>
          </a:p>
        </p:txBody>
      </p:sp>
      <p:sp>
        <p:nvSpPr>
          <p:cNvPr id="3" name="Content Placeholder 2">
            <a:extLst>
              <a:ext uri="{FF2B5EF4-FFF2-40B4-BE49-F238E27FC236}">
                <a16:creationId xmlns:a16="http://schemas.microsoft.com/office/drawing/2014/main" id="{6904F8BF-5887-40BE-B02F-7DCDE3E8ED9B}"/>
              </a:ext>
            </a:extLst>
          </p:cNvPr>
          <p:cNvSpPr>
            <a:spLocks noGrp="1"/>
          </p:cNvSpPr>
          <p:nvPr>
            <p:ph sz="quarter" idx="10"/>
          </p:nvPr>
        </p:nvSpPr>
        <p:spPr>
          <a:xfrm>
            <a:off x="584200" y="1435100"/>
            <a:ext cx="11018838" cy="3594830"/>
          </a:xfrm>
        </p:spPr>
        <p:txBody>
          <a:bodyPr/>
          <a:lstStyle/>
          <a:p>
            <a:pPr marL="0" indent="0">
              <a:buNone/>
            </a:pPr>
            <a:r>
              <a:rPr lang="en-US" dirty="0"/>
              <a:t>Using four 4's and any operations, try to write equations that have the numbers from 0 to 4 as the answer. </a:t>
            </a:r>
          </a:p>
          <a:p>
            <a:pPr marL="0" indent="0">
              <a:buNone/>
            </a:pPr>
            <a:r>
              <a:rPr lang="en-US" dirty="0"/>
              <a:t>Use Python's arithmetic operations:</a:t>
            </a:r>
          </a:p>
          <a:p>
            <a:pPr marL="576263" lvl="1" indent="0">
              <a:buNone/>
            </a:pPr>
            <a:r>
              <a:rPr lang="en-US" dirty="0"/>
              <a:t>( ) parentheses for grouping</a:t>
            </a:r>
          </a:p>
          <a:p>
            <a:pPr marL="576263" lvl="1" indent="0">
              <a:buNone/>
            </a:pPr>
            <a:r>
              <a:rPr lang="en-US" dirty="0"/>
              <a:t>** Exponents</a:t>
            </a:r>
          </a:p>
          <a:p>
            <a:pPr marL="576263" lvl="1" indent="0">
              <a:buNone/>
            </a:pPr>
            <a:r>
              <a:rPr lang="en-US" dirty="0"/>
              <a:t>*  multiplication</a:t>
            </a:r>
          </a:p>
          <a:p>
            <a:pPr marL="576263" lvl="1" indent="0">
              <a:buNone/>
            </a:pPr>
            <a:r>
              <a:rPr lang="en-US" dirty="0"/>
              <a:t>/  division</a:t>
            </a:r>
          </a:p>
          <a:p>
            <a:pPr marL="576263" lvl="1" indent="0">
              <a:buNone/>
            </a:pPr>
            <a:r>
              <a:rPr lang="en-US" dirty="0"/>
              <a:t>+ addition</a:t>
            </a:r>
          </a:p>
          <a:p>
            <a:pPr marL="576263" lvl="1" indent="0">
              <a:buNone/>
            </a:pPr>
            <a:r>
              <a:rPr lang="en-US" dirty="0"/>
              <a:t>-  subtraction or negation</a:t>
            </a:r>
          </a:p>
        </p:txBody>
      </p:sp>
    </p:spTree>
    <p:custDataLst>
      <p:tags r:id="rId1"/>
    </p:custDataLst>
    <p:extLst>
      <p:ext uri="{BB962C8B-B14F-4D97-AF65-F5344CB8AC3E}">
        <p14:creationId xmlns:p14="http://schemas.microsoft.com/office/powerpoint/2010/main" val="271027616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D763-8B6E-4E81-8A0F-13A0B7912F7E}"/>
              </a:ext>
            </a:extLst>
          </p:cNvPr>
          <p:cNvSpPr>
            <a:spLocks noGrp="1"/>
          </p:cNvSpPr>
          <p:nvPr>
            <p:ph type="title"/>
          </p:nvPr>
        </p:nvSpPr>
        <p:spPr/>
        <p:txBody>
          <a:bodyPr/>
          <a:lstStyle/>
          <a:p>
            <a:r>
              <a:rPr lang="en-US" dirty="0"/>
              <a:t>Lab Part 3</a:t>
            </a:r>
          </a:p>
        </p:txBody>
      </p:sp>
      <p:sp>
        <p:nvSpPr>
          <p:cNvPr id="3" name="Content Placeholder 2">
            <a:extLst>
              <a:ext uri="{FF2B5EF4-FFF2-40B4-BE49-F238E27FC236}">
                <a16:creationId xmlns:a16="http://schemas.microsoft.com/office/drawing/2014/main" id="{31F92D45-26B0-44F4-A878-D90D6936BAD9}"/>
              </a:ext>
            </a:extLst>
          </p:cNvPr>
          <p:cNvSpPr>
            <a:spLocks noGrp="1"/>
          </p:cNvSpPr>
          <p:nvPr>
            <p:ph sz="quarter" idx="10"/>
          </p:nvPr>
        </p:nvSpPr>
        <p:spPr>
          <a:xfrm>
            <a:off x="584200" y="1435100"/>
            <a:ext cx="11018838" cy="5059847"/>
          </a:xfrm>
        </p:spPr>
        <p:txBody>
          <a:bodyPr/>
          <a:lstStyle/>
          <a:p>
            <a:pPr marL="0" indent="0">
              <a:buNone/>
            </a:pPr>
            <a:r>
              <a:rPr lang="en-US" dirty="0"/>
              <a:t>You may also use 44 or 4.4, which count as two fours, or .4, which counts as one four. For example, one solution for zero is:</a:t>
            </a:r>
          </a:p>
          <a:p>
            <a:pPr marL="685800" lvl="1" indent="-457200">
              <a:buFont typeface="+mj-lt"/>
              <a:buAutoNum type="arabicPeriod"/>
            </a:pPr>
            <a:r>
              <a:rPr lang="en-US" dirty="0">
                <a:latin typeface="Consolas" panose="020B0609020204030204" pitchFamily="49" charset="0"/>
              </a:rPr>
              <a:t>print("Zero is", 44-44)</a:t>
            </a:r>
          </a:p>
          <a:p>
            <a:pPr marL="0" indent="0">
              <a:buNone/>
            </a:pPr>
            <a:r>
              <a:rPr lang="en-US" b="1" dirty="0"/>
              <a:t>Can you find a different solution?</a:t>
            </a:r>
          </a:p>
          <a:p>
            <a:endParaRPr lang="en-US" dirty="0"/>
          </a:p>
          <a:p>
            <a:pPr marL="0" indent="0">
              <a:buNone/>
            </a:pPr>
            <a:r>
              <a:rPr lang="en-US" dirty="0"/>
              <a:t>Here are what the results, but not the source code, will look like. (Note: 1 may be displayed as 1.0 – This is ok)</a:t>
            </a:r>
          </a:p>
          <a:p>
            <a:pPr marL="685800" lvl="1" indent="-457200">
              <a:buFont typeface="+mj-lt"/>
              <a:buAutoNum type="arabicPeriod"/>
            </a:pPr>
            <a:r>
              <a:rPr lang="en-US" dirty="0">
                <a:latin typeface="Consolas" panose="020B0609020204030204" pitchFamily="49" charset="0"/>
              </a:rPr>
              <a:t>Zero is 0</a:t>
            </a:r>
          </a:p>
          <a:p>
            <a:pPr marL="685800" lvl="1" indent="-457200">
              <a:buFont typeface="+mj-lt"/>
              <a:buAutoNum type="arabicPeriod"/>
            </a:pPr>
            <a:r>
              <a:rPr lang="en-US" dirty="0">
                <a:latin typeface="Consolas" panose="020B0609020204030204" pitchFamily="49" charset="0"/>
              </a:rPr>
              <a:t>One is 1</a:t>
            </a:r>
          </a:p>
          <a:p>
            <a:pPr marL="685800" lvl="1" indent="-457200">
              <a:buFont typeface="+mj-lt"/>
              <a:buAutoNum type="arabicPeriod"/>
            </a:pPr>
            <a:r>
              <a:rPr lang="en-US" dirty="0">
                <a:latin typeface="Consolas" panose="020B0609020204030204" pitchFamily="49" charset="0"/>
              </a:rPr>
              <a:t>Two is 2</a:t>
            </a:r>
          </a:p>
          <a:p>
            <a:pPr marL="685800" lvl="1" indent="-457200">
              <a:buFont typeface="+mj-lt"/>
              <a:buAutoNum type="arabicPeriod"/>
            </a:pPr>
            <a:r>
              <a:rPr lang="en-US" dirty="0">
                <a:latin typeface="Consolas" panose="020B0609020204030204" pitchFamily="49" charset="0"/>
              </a:rPr>
              <a:t>Three is 3</a:t>
            </a:r>
          </a:p>
          <a:p>
            <a:pPr marL="685800" lvl="1" indent="-457200">
              <a:buFont typeface="+mj-lt"/>
              <a:buAutoNum type="arabicPeriod"/>
            </a:pPr>
            <a:r>
              <a:rPr lang="en-US" dirty="0">
                <a:latin typeface="Consolas" panose="020B0609020204030204" pitchFamily="49" charset="0"/>
              </a:rPr>
              <a:t>Four is 4</a:t>
            </a:r>
          </a:p>
        </p:txBody>
      </p:sp>
    </p:spTree>
    <p:custDataLst>
      <p:tags r:id="rId1"/>
    </p:custDataLst>
    <p:extLst>
      <p:ext uri="{BB962C8B-B14F-4D97-AF65-F5344CB8AC3E}">
        <p14:creationId xmlns:p14="http://schemas.microsoft.com/office/powerpoint/2010/main" val="190987080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B19B-AF36-4451-82E6-8D4127D84C68}"/>
              </a:ext>
            </a:extLst>
          </p:cNvPr>
          <p:cNvSpPr>
            <a:spLocks noGrp="1"/>
          </p:cNvSpPr>
          <p:nvPr>
            <p:ph type="title"/>
          </p:nvPr>
        </p:nvSpPr>
        <p:spPr/>
        <p:txBody>
          <a:bodyPr/>
          <a:lstStyle/>
          <a:p>
            <a:r>
              <a:rPr lang="en-US" dirty="0"/>
              <a:t>Bonus</a:t>
            </a:r>
          </a:p>
        </p:txBody>
      </p:sp>
      <p:sp>
        <p:nvSpPr>
          <p:cNvPr id="3" name="Content Placeholder 2">
            <a:extLst>
              <a:ext uri="{FF2B5EF4-FFF2-40B4-BE49-F238E27FC236}">
                <a16:creationId xmlns:a16="http://schemas.microsoft.com/office/drawing/2014/main" id="{9A6E5016-1556-484E-B62A-AE5961D01A11}"/>
              </a:ext>
            </a:extLst>
          </p:cNvPr>
          <p:cNvSpPr>
            <a:spLocks noGrp="1"/>
          </p:cNvSpPr>
          <p:nvPr>
            <p:ph sz="quarter" idx="10"/>
          </p:nvPr>
        </p:nvSpPr>
        <p:spPr>
          <a:xfrm>
            <a:off x="584200" y="1435100"/>
            <a:ext cx="11018838" cy="3151632"/>
          </a:xfrm>
        </p:spPr>
        <p:txBody>
          <a:bodyPr/>
          <a:lstStyle/>
          <a:p>
            <a:pPr marL="514350" indent="-514350">
              <a:buFont typeface="+mj-lt"/>
              <a:buAutoNum type="arabicPeriod"/>
            </a:pPr>
            <a:r>
              <a:rPr lang="en-US" sz="4000" dirty="0"/>
              <a:t>Print the output below, but only using one line of code. (Feel free to use online resources.)</a:t>
            </a:r>
          </a:p>
          <a:p>
            <a:pPr marL="742950" lvl="1" indent="-514350">
              <a:buFont typeface="+mj-lt"/>
              <a:buAutoNum type="arabicPeriod"/>
            </a:pPr>
            <a:r>
              <a:rPr lang="en-US" sz="3200" dirty="0">
                <a:latin typeface="Consolas" panose="020B0609020204030204" pitchFamily="49" charset="0"/>
              </a:rPr>
              <a:t>Wow!</a:t>
            </a:r>
          </a:p>
          <a:p>
            <a:pPr marL="742950" lvl="1" indent="-514350">
              <a:buFont typeface="+mj-lt"/>
              <a:buAutoNum type="arabicPeriod"/>
            </a:pPr>
            <a:r>
              <a:rPr lang="en-US" sz="3200" dirty="0">
                <a:latin typeface="Consolas" panose="020B0609020204030204" pitchFamily="49" charset="0"/>
              </a:rPr>
              <a:t>This is on a new line!</a:t>
            </a:r>
          </a:p>
          <a:p>
            <a:pPr marL="514350" indent="-514350">
              <a:buFont typeface="+mj-lt"/>
              <a:buAutoNum type="arabicPeriod"/>
            </a:pPr>
            <a:r>
              <a:rPr lang="en-US" sz="4000" dirty="0"/>
              <a:t>Can you find four fours for 5 to 10?</a:t>
            </a:r>
          </a:p>
        </p:txBody>
      </p:sp>
    </p:spTree>
    <p:custDataLst>
      <p:tags r:id="rId1"/>
    </p:custDataLst>
    <p:extLst>
      <p:ext uri="{BB962C8B-B14F-4D97-AF65-F5344CB8AC3E}">
        <p14:creationId xmlns:p14="http://schemas.microsoft.com/office/powerpoint/2010/main" val="1567538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p:txBody>
          <a:bodyPr/>
          <a:lstStyle/>
          <a:p>
            <a:r>
              <a:rPr lang="en-US" dirty="0">
                <a:cs typeface="Segoe UI"/>
              </a:rPr>
              <a:t>Lesson: 1.04 Variable input</a:t>
            </a: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9144000" cy="677108"/>
          </a:xfrm>
        </p:spPr>
        <p:txBody>
          <a:bodyPr/>
          <a:lstStyle/>
          <a:p>
            <a:r>
              <a:rPr lang="en-US" dirty="0">
                <a:cs typeface="Segoe UI"/>
              </a:rPr>
              <a:t>Microsoft Philanthropies TEALS Program</a:t>
            </a:r>
          </a:p>
          <a:p>
            <a:r>
              <a:rPr lang="en-US" dirty="0">
                <a:cs typeface="Segoe UI"/>
              </a:rPr>
              <a:t>Introduction to computer science</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72550" y="6334126"/>
            <a:ext cx="3105150" cy="390525"/>
          </a:xfrm>
          <a:prstGeom prst="rect">
            <a:avLst/>
          </a:prstGeom>
        </p:spPr>
      </p:pic>
    </p:spTree>
    <p:extLst>
      <p:ext uri="{BB962C8B-B14F-4D97-AF65-F5344CB8AC3E}">
        <p14:creationId xmlns:p14="http://schemas.microsoft.com/office/powerpoint/2010/main" val="3671837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cs typeface="Segoe UI"/>
              </a:rPr>
              <a:t>Variable Input</a:t>
            </a:r>
            <a:endParaRPr lang="en-US" dirty="0">
              <a:effectLst/>
            </a:endParaRPr>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comments, storing, mutability, variable assignment, input</a:t>
            </a:r>
          </a:p>
          <a:p>
            <a:pPr marL="342900" indent="-342900">
              <a:buFont typeface="Arial" panose="020B0604020202020204" pitchFamily="34" charset="0"/>
              <a:buChar char="•"/>
            </a:pPr>
            <a:r>
              <a:rPr lang="en-US" dirty="0"/>
              <a:t>Assign and swap variables</a:t>
            </a:r>
          </a:p>
          <a:p>
            <a:pPr marL="342900" indent="-342900">
              <a:buFont typeface="Arial" panose="020B0604020202020204" pitchFamily="34" charset="0"/>
              <a:buChar char="•"/>
            </a:pPr>
            <a:r>
              <a:rPr lang="en-US" dirty="0"/>
              <a:t>Store user input into a variable</a:t>
            </a:r>
          </a:p>
        </p:txBody>
      </p:sp>
    </p:spTree>
    <p:extLst>
      <p:ext uri="{BB962C8B-B14F-4D97-AF65-F5344CB8AC3E}">
        <p14:creationId xmlns:p14="http://schemas.microsoft.com/office/powerpoint/2010/main" val="70272741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1735860"/>
          </a:xfrm>
        </p:spPr>
        <p:txBody>
          <a:bodyPr/>
          <a:lstStyle/>
          <a:p>
            <a:r>
              <a:rPr lang="en-US" sz="1800" dirty="0"/>
              <a:t>Do now</a:t>
            </a:r>
          </a:p>
          <a:p>
            <a:r>
              <a:rPr lang="en-US" sz="1800" dirty="0"/>
              <a:t>Continue do now &amp; discussion</a:t>
            </a:r>
          </a:p>
          <a:p>
            <a:r>
              <a:rPr lang="en-US" sz="1800" dirty="0"/>
              <a:t>Magic genie lab</a:t>
            </a:r>
          </a:p>
          <a:p>
            <a:r>
              <a:rPr lang="en-US" sz="1800" dirty="0"/>
              <a:t>Debrief/quiz prep</a:t>
            </a:r>
          </a:p>
        </p:txBody>
      </p:sp>
    </p:spTree>
    <p:extLst>
      <p:ext uri="{BB962C8B-B14F-4D97-AF65-F5344CB8AC3E}">
        <p14:creationId xmlns:p14="http://schemas.microsoft.com/office/powerpoint/2010/main" val="327932689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6B132-3FBD-43BD-AABF-6355FEF355AE}"/>
              </a:ext>
            </a:extLst>
          </p:cNvPr>
          <p:cNvSpPr>
            <a:spLocks noGrp="1"/>
          </p:cNvSpPr>
          <p:nvPr>
            <p:ph type="title"/>
          </p:nvPr>
        </p:nvSpPr>
        <p:spPr/>
        <p:txBody>
          <a:bodyPr/>
          <a:lstStyle/>
          <a:p>
            <a:r>
              <a:rPr lang="en-US" dirty="0"/>
              <a:t>Do now</a:t>
            </a:r>
          </a:p>
        </p:txBody>
      </p:sp>
      <p:sp>
        <p:nvSpPr>
          <p:cNvPr id="3" name="Content Placeholder 2">
            <a:extLst>
              <a:ext uri="{FF2B5EF4-FFF2-40B4-BE49-F238E27FC236}">
                <a16:creationId xmlns:a16="http://schemas.microsoft.com/office/drawing/2014/main" id="{94D538A4-1833-4617-9069-4479D46A09DB}"/>
              </a:ext>
            </a:extLst>
          </p:cNvPr>
          <p:cNvSpPr>
            <a:spLocks noGrp="1"/>
          </p:cNvSpPr>
          <p:nvPr>
            <p:ph sz="quarter" idx="10"/>
          </p:nvPr>
        </p:nvSpPr>
        <p:spPr>
          <a:xfrm>
            <a:off x="584200" y="1435100"/>
            <a:ext cx="11018838" cy="4419671"/>
          </a:xfrm>
        </p:spPr>
        <p:txBody>
          <a:bodyPr/>
          <a:lstStyle/>
          <a:p>
            <a:pPr marL="0" indent="0">
              <a:buClr>
                <a:schemeClr val="tx1"/>
              </a:buClr>
              <a:buNone/>
            </a:pPr>
            <a:r>
              <a:rPr lang="en-US" dirty="0">
                <a:solidFill>
                  <a:srgbClr val="000000"/>
                </a:solidFill>
                <a:latin typeface="Consolas" panose="020B0609020204030204" pitchFamily="49" charset="0"/>
              </a:rPr>
              <a:t>Type the following in your Notebook</a:t>
            </a:r>
          </a:p>
          <a:p>
            <a:pPr marL="742950" lvl="1" indent="-514350">
              <a:buClr>
                <a:schemeClr val="tx1"/>
              </a:buClr>
              <a:buFont typeface="+mj-lt"/>
              <a:buAutoNum type="arabicPeriod"/>
            </a:pPr>
            <a:r>
              <a:rPr lang="en-US" dirty="0">
                <a:solidFill>
                  <a:srgbClr val="000000"/>
                </a:solidFill>
                <a:latin typeface="Consolas" panose="020B0609020204030204" pitchFamily="49" charset="0"/>
              </a:rPr>
              <a:t>a = </a:t>
            </a:r>
            <a:r>
              <a:rPr lang="en-US" dirty="0">
                <a:solidFill>
                  <a:srgbClr val="0000FF"/>
                </a:solidFill>
                <a:latin typeface="Consolas" panose="020B0609020204030204" pitchFamily="49" charset="0"/>
              </a:rPr>
              <a:t>input</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"What is your name? "</a:t>
            </a:r>
            <a:r>
              <a:rPr lang="en-US" dirty="0">
                <a:solidFill>
                  <a:srgbClr val="000000"/>
                </a:solidFill>
                <a:latin typeface="Consolas" panose="020B0609020204030204" pitchFamily="49" charset="0"/>
              </a:rPr>
              <a:t>)</a:t>
            </a:r>
          </a:p>
          <a:p>
            <a:pPr marL="742950" lvl="1" indent="-514350">
              <a:buClr>
                <a:schemeClr val="tx1"/>
              </a:buClr>
              <a:buFont typeface="+mj-lt"/>
              <a:buAutoNum type="arabicPeriod"/>
            </a:pPr>
            <a:r>
              <a:rPr lang="en-US" dirty="0">
                <a:solidFill>
                  <a:srgbClr val="AAAAAA"/>
                </a:solidFill>
                <a:latin typeface="Consolas" panose="020B0609020204030204" pitchFamily="49" charset="0"/>
              </a:rPr>
              <a:t># a = "cats and dogs“</a:t>
            </a:r>
            <a:endParaRPr lang="en-US" dirty="0">
              <a:solidFill>
                <a:srgbClr val="000000"/>
              </a:solidFill>
              <a:latin typeface="Consolas" panose="020B0609020204030204" pitchFamily="49" charset="0"/>
            </a:endParaRPr>
          </a:p>
          <a:p>
            <a:pPr marL="742950" lvl="1" indent="-514350">
              <a:buClr>
                <a:schemeClr val="tx1"/>
              </a:buClr>
              <a:buFont typeface="+mj-lt"/>
              <a:buAutoNum type="arabicPeriod"/>
            </a:pPr>
            <a:r>
              <a:rPr lang="en-US" dirty="0">
                <a:solidFill>
                  <a:srgbClr val="AAAAAA"/>
                </a:solidFill>
                <a:latin typeface="Consolas" panose="020B0609020204030204" pitchFamily="49" charset="0"/>
              </a:rPr>
              <a:t># meow</a:t>
            </a:r>
            <a:endParaRPr lang="en-US" dirty="0">
              <a:solidFill>
                <a:srgbClr val="000000"/>
              </a:solidFill>
              <a:latin typeface="Consolas" panose="020B0609020204030204" pitchFamily="49" charset="0"/>
            </a:endParaRPr>
          </a:p>
          <a:p>
            <a:pPr marL="742950" lvl="1" indent="-514350">
              <a:buClr>
                <a:schemeClr val="tx1"/>
              </a:buClr>
              <a:buFont typeface="+mj-lt"/>
              <a:buAutoNum type="arabicPeriod"/>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"Hello there, "</a:t>
            </a:r>
            <a:r>
              <a:rPr lang="en-US" dirty="0">
                <a:solidFill>
                  <a:srgbClr val="000000"/>
                </a:solidFill>
                <a:latin typeface="Consolas" panose="020B0609020204030204" pitchFamily="49" charset="0"/>
              </a:rPr>
              <a:t> + a)</a:t>
            </a:r>
          </a:p>
          <a:p>
            <a:pPr marL="0" indent="0">
              <a:buClr>
                <a:schemeClr val="tx1"/>
              </a:buClr>
              <a:buNone/>
            </a:pPr>
            <a:endParaRPr lang="en-US" dirty="0">
              <a:solidFill>
                <a:srgbClr val="000000"/>
              </a:solidFill>
            </a:endParaRPr>
          </a:p>
          <a:p>
            <a:pPr marL="0" indent="0">
              <a:buClr>
                <a:schemeClr val="tx1"/>
              </a:buClr>
              <a:buNone/>
            </a:pPr>
            <a:r>
              <a:rPr lang="en-US" dirty="0">
                <a:solidFill>
                  <a:srgbClr val="000000"/>
                </a:solidFill>
              </a:rPr>
              <a:t>In Your Notebook, respond to the following</a:t>
            </a:r>
          </a:p>
          <a:p>
            <a:pPr marL="742950" lvl="1" indent="-514350">
              <a:buClr>
                <a:schemeClr val="tx1"/>
              </a:buClr>
              <a:buFont typeface="+mj-lt"/>
              <a:buAutoNum type="arabicPeriod"/>
            </a:pPr>
            <a:r>
              <a:rPr lang="en-US" dirty="0">
                <a:solidFill>
                  <a:srgbClr val="000000"/>
                </a:solidFill>
              </a:rPr>
              <a:t>Read through the code and write down what you expect the printed results to be?</a:t>
            </a:r>
          </a:p>
          <a:p>
            <a:pPr marL="742950" lvl="1" indent="-514350">
              <a:buClr>
                <a:schemeClr val="tx1"/>
              </a:buClr>
              <a:buFont typeface="+mj-lt"/>
              <a:buAutoNum type="arabicPeriod"/>
            </a:pPr>
            <a:r>
              <a:rPr lang="en-US" dirty="0">
                <a:solidFill>
                  <a:srgbClr val="000000"/>
                </a:solidFill>
              </a:rPr>
              <a:t>Run the code and write down the actual printed result?</a:t>
            </a:r>
          </a:p>
          <a:p>
            <a:pPr marL="742950" lvl="1" indent="-514350">
              <a:buClr>
                <a:schemeClr val="tx1"/>
              </a:buClr>
              <a:buFont typeface="+mj-lt"/>
              <a:buAutoNum type="arabicPeriod"/>
            </a:pPr>
            <a:r>
              <a:rPr lang="en-US" dirty="0">
                <a:solidFill>
                  <a:srgbClr val="000000"/>
                </a:solidFill>
              </a:rPr>
              <a:t>Briefly describe what the # does?</a:t>
            </a:r>
          </a:p>
          <a:p>
            <a:pPr marL="742950" lvl="1" indent="-514350">
              <a:buClr>
                <a:schemeClr val="tx1"/>
              </a:buClr>
              <a:buFont typeface="+mj-lt"/>
              <a:buAutoNum type="arabicPeriod"/>
            </a:pPr>
            <a:r>
              <a:rPr lang="en-US" dirty="0">
                <a:solidFill>
                  <a:srgbClr val="000000"/>
                </a:solidFill>
              </a:rPr>
              <a:t>Briefly describe what input does?</a:t>
            </a:r>
          </a:p>
        </p:txBody>
      </p:sp>
    </p:spTree>
    <p:custDataLst>
      <p:tags r:id="rId1"/>
    </p:custDataLst>
    <p:extLst>
      <p:ext uri="{BB962C8B-B14F-4D97-AF65-F5344CB8AC3E}">
        <p14:creationId xmlns:p14="http://schemas.microsoft.com/office/powerpoint/2010/main" val="131173993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2" name="Title 1">
            <a:extLst>
              <a:ext uri="{FF2B5EF4-FFF2-40B4-BE49-F238E27FC236}">
                <a16:creationId xmlns:a16="http://schemas.microsoft.com/office/drawing/2014/main" id="{1BA60CA4-DC1B-42F9-B65C-958D2342A4A3}"/>
              </a:ext>
            </a:extLst>
          </p:cNvPr>
          <p:cNvSpPr>
            <a:spLocks noGrp="1"/>
          </p:cNvSpPr>
          <p:nvPr>
            <p:ph type="title"/>
          </p:nvPr>
        </p:nvSpPr>
        <p:spPr>
          <a:xfrm>
            <a:off x="588263" y="457200"/>
            <a:ext cx="11018520" cy="553998"/>
          </a:xfrm>
        </p:spPr>
        <p:txBody>
          <a:bodyPr/>
          <a:lstStyle/>
          <a:p>
            <a:r>
              <a:rPr lang="en-US" dirty="0">
                <a:solidFill>
                  <a:srgbClr val="3B454E"/>
                </a:solidFill>
                <a:highlight>
                  <a:srgbClr val="FFFFFF"/>
                </a:highlight>
              </a:rPr>
              <a:t>Discussion - What does the code do?</a:t>
            </a:r>
            <a:endParaRPr lang="en-US" dirty="0"/>
          </a:p>
        </p:txBody>
      </p:sp>
      <p:sp>
        <p:nvSpPr>
          <p:cNvPr id="124" name="Google Shape;124;p22" descr="Snap Image&#10;ask what's your name? and wait&#10;set name to answer&#10;say join Hello name ! Welcome to 8th Grade! for 2 secs."/>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125" name="Google Shape;125;p22" descr="A screenshot of a Snap! Code&#10;ask What's your name? and wait&#10;set name to answer&#10;say join Hello name !Welcome to 8th period! for 2 secs"/>
          <p:cNvPicPr preferRelativeResize="0"/>
          <p:nvPr/>
        </p:nvPicPr>
        <p:blipFill>
          <a:blip r:embed="rId4">
            <a:alphaModFix/>
          </a:blip>
          <a:stretch>
            <a:fillRect/>
          </a:stretch>
        </p:blipFill>
        <p:spPr>
          <a:xfrm>
            <a:off x="852788" y="1551846"/>
            <a:ext cx="10420050" cy="3477354"/>
          </a:xfrm>
          <a:prstGeom prst="rect">
            <a:avLst/>
          </a:prstGeom>
          <a:noFill/>
          <a:ln>
            <a:noFill/>
          </a:ln>
        </p:spPr>
      </p:pic>
    </p:spTree>
    <p:custDataLst>
      <p:tags r:id="rId1"/>
    </p:custData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Code comment </a:t>
            </a:r>
          </a:p>
        </p:txBody>
      </p:sp>
      <p:sp>
        <p:nvSpPr>
          <p:cNvPr id="131" name="Google Shape;131;p23"/>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r>
              <a:rPr lang="en" sz="3200" dirty="0">
                <a:solidFill>
                  <a:srgbClr val="3B454E"/>
                </a:solidFill>
                <a:highlight>
                  <a:srgbClr val="FFFFFF"/>
                </a:highlight>
              </a:rPr>
              <a:t>What happens when I run the statement above? </a:t>
            </a:r>
            <a:endParaRPr sz="3200" dirty="0">
              <a:solidFill>
                <a:srgbClr val="3B454E"/>
              </a:solidFill>
              <a:highlight>
                <a:srgbClr val="FFFFFF"/>
              </a:highlight>
            </a:endParaRPr>
          </a:p>
          <a:p>
            <a:pPr marL="0" indent="0">
              <a:spcBef>
                <a:spcPts val="2133"/>
              </a:spcBef>
              <a:buNone/>
            </a:pPr>
            <a:r>
              <a:rPr lang="en" sz="3200" dirty="0">
                <a:solidFill>
                  <a:srgbClr val="3B454E"/>
                </a:solidFill>
                <a:highlight>
                  <a:schemeClr val="lt1"/>
                </a:highlight>
              </a:rPr>
              <a:t>A: Absolutely nothing!</a:t>
            </a:r>
            <a:endParaRPr sz="3200" dirty="0">
              <a:solidFill>
                <a:srgbClr val="3B454E"/>
              </a:solidFill>
              <a:highlight>
                <a:schemeClr val="lt1"/>
              </a:highlight>
            </a:endParaRPr>
          </a:p>
          <a:p>
            <a:pPr marL="0" indent="0">
              <a:spcBef>
                <a:spcPts val="2133"/>
              </a:spcBef>
              <a:buNone/>
            </a:pPr>
            <a:r>
              <a:rPr lang="en" sz="3200" dirty="0">
                <a:solidFill>
                  <a:srgbClr val="3B454E"/>
                </a:solidFill>
                <a:highlight>
                  <a:schemeClr val="lt1"/>
                </a:highlight>
              </a:rPr>
              <a:t>Why?</a:t>
            </a:r>
            <a:endParaRPr sz="3200" dirty="0">
              <a:solidFill>
                <a:srgbClr val="3B454E"/>
              </a:solidFill>
              <a:highlight>
                <a:schemeClr val="lt1"/>
              </a:highlight>
            </a:endParaRPr>
          </a:p>
          <a:p>
            <a:pPr marL="0" indent="0">
              <a:spcBef>
                <a:spcPts val="2133"/>
              </a:spcBef>
              <a:buNone/>
            </a:pPr>
            <a:r>
              <a:rPr lang="en" sz="3200" dirty="0">
                <a:solidFill>
                  <a:srgbClr val="3B454E"/>
                </a:solidFill>
                <a:highlight>
                  <a:srgbClr val="FFFFFF"/>
                </a:highlight>
              </a:rPr>
              <a:t>A: Because “#” makes it a comment</a:t>
            </a: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132" name="Google Shape;132;p23" descr="#supercalifragilisticexpialidocious"/>
          <p:cNvPicPr preferRelativeResize="0"/>
          <p:nvPr/>
        </p:nvPicPr>
        <p:blipFill>
          <a:blip r:embed="rId4">
            <a:alphaModFix/>
          </a:blip>
          <a:stretch>
            <a:fillRect/>
          </a:stretch>
        </p:blipFill>
        <p:spPr>
          <a:xfrm>
            <a:off x="488501" y="1891634"/>
            <a:ext cx="8911833" cy="900500"/>
          </a:xfrm>
          <a:prstGeom prst="rect">
            <a:avLst/>
          </a:prstGeom>
          <a:noFill/>
          <a:ln>
            <a:noFill/>
          </a:ln>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2" end="2"/>
                                            </p:txEl>
                                          </p:spTgt>
                                        </p:tgtEl>
                                        <p:attrNameLst>
                                          <p:attrName>style.visibility</p:attrName>
                                        </p:attrNameLst>
                                      </p:cBhvr>
                                      <p:to>
                                        <p:strVal val="visible"/>
                                      </p:to>
                                    </p:set>
                                    <p:animEffect transition="in" filter="fade">
                                      <p:cBhvr>
                                        <p:cTn id="7" dur="1000"/>
                                        <p:tgtEl>
                                          <p:spTgt spid="1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3" end="3"/>
                                            </p:txEl>
                                          </p:spTgt>
                                        </p:tgtEl>
                                        <p:attrNameLst>
                                          <p:attrName>style.visibility</p:attrName>
                                        </p:attrNameLst>
                                      </p:cBhvr>
                                      <p:to>
                                        <p:strVal val="visible"/>
                                      </p:to>
                                    </p:set>
                                    <p:animEffect transition="in" filter="fade">
                                      <p:cBhvr>
                                        <p:cTn id="12" dur="1000"/>
                                        <p:tgtEl>
                                          <p:spTgt spid="13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4" end="4"/>
                                            </p:txEl>
                                          </p:spTgt>
                                        </p:tgtEl>
                                        <p:attrNameLst>
                                          <p:attrName>style.visibility</p:attrName>
                                        </p:attrNameLst>
                                      </p:cBhvr>
                                      <p:to>
                                        <p:strVal val="visible"/>
                                      </p:to>
                                    </p:set>
                                    <p:animEffect transition="in" filter="fade">
                                      <p:cBhvr>
                                        <p:cTn id="17" dur="1000"/>
                                        <p:tgtEl>
                                          <p:spTgt spid="13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5" end="5"/>
                                            </p:txEl>
                                          </p:spTgt>
                                        </p:tgtEl>
                                        <p:attrNameLst>
                                          <p:attrName>style.visibility</p:attrName>
                                        </p:attrNameLst>
                                      </p:cBhvr>
                                      <p:to>
                                        <p:strVal val="visible"/>
                                      </p:to>
                                    </p:set>
                                    <p:animEffect transition="in" filter="fade">
                                      <p:cBhvr>
                                        <p:cTn id="22" dur="1000"/>
                                        <p:tgtEl>
                                          <p:spTgt spid="1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a:t>
            </a:r>
          </a:p>
        </p:txBody>
      </p:sp>
      <p:sp>
        <p:nvSpPr>
          <p:cNvPr id="138" name="Google Shape;138;p24"/>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r>
              <a:rPr lang="en" sz="3200" dirty="0">
                <a:solidFill>
                  <a:srgbClr val="3B454E"/>
                </a:solidFill>
                <a:highlight>
                  <a:srgbClr val="FFFFFF"/>
                </a:highlight>
              </a:rPr>
              <a:t>What’s the input statement for? </a:t>
            </a:r>
            <a:endParaRPr sz="3200" dirty="0">
              <a:solidFill>
                <a:srgbClr val="3B454E"/>
              </a:solidFill>
              <a:highlight>
                <a:srgbClr val="FFFFFF"/>
              </a:highlight>
            </a:endParaRPr>
          </a:p>
          <a:p>
            <a:pPr marL="0" indent="0">
              <a:spcBef>
                <a:spcPts val="2133"/>
              </a:spcBef>
              <a:buNone/>
            </a:pPr>
            <a:r>
              <a:rPr lang="en" sz="3200" dirty="0">
                <a:solidFill>
                  <a:srgbClr val="3B454E"/>
                </a:solidFill>
                <a:highlight>
                  <a:schemeClr val="lt1"/>
                </a:highlight>
              </a:rPr>
              <a:t>A: Lets you input data and save it to a variable</a:t>
            </a: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2" name="Picture 1">
            <a:extLst>
              <a:ext uri="{FF2B5EF4-FFF2-40B4-BE49-F238E27FC236}">
                <a16:creationId xmlns:a16="http://schemas.microsoft.com/office/drawing/2014/main" id="{6070D3C7-016B-BE48-B0ED-8E6DAE03E816}"/>
              </a:ext>
            </a:extLst>
          </p:cNvPr>
          <p:cNvPicPr>
            <a:picLocks noChangeAspect="1"/>
          </p:cNvPicPr>
          <p:nvPr/>
        </p:nvPicPr>
        <p:blipFill>
          <a:blip r:embed="rId4"/>
          <a:stretch>
            <a:fillRect/>
          </a:stretch>
        </p:blipFill>
        <p:spPr>
          <a:xfrm>
            <a:off x="1873326" y="1661480"/>
            <a:ext cx="7490588" cy="1896967"/>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xEl>
                                              <p:pRg st="3" end="3"/>
                                            </p:txEl>
                                          </p:spTgt>
                                        </p:tgtEl>
                                        <p:attrNameLst>
                                          <p:attrName>style.visibility</p:attrName>
                                        </p:attrNameLst>
                                      </p:cBhvr>
                                      <p:to>
                                        <p:strVal val="visible"/>
                                      </p:to>
                                    </p:set>
                                    <p:animEffect transition="in" filter="fade">
                                      <p:cBhvr>
                                        <p:cTn id="7" dur="1000"/>
                                        <p:tgtEl>
                                          <p:spTgt spid="13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xEl>
                                              <p:pRg st="4" end="4"/>
                                            </p:txEl>
                                          </p:spTgt>
                                        </p:tgtEl>
                                        <p:attrNameLst>
                                          <p:attrName>style.visibility</p:attrName>
                                        </p:attrNameLst>
                                      </p:cBhvr>
                                      <p:to>
                                        <p:strVal val="visible"/>
                                      </p:to>
                                    </p:set>
                                    <p:animEffect transition="in" filter="fade">
                                      <p:cBhvr>
                                        <p:cTn id="12" dur="1000"/>
                                        <p:tgtEl>
                                          <p:spTgt spid="13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 string </a:t>
            </a:r>
          </a:p>
        </p:txBody>
      </p:sp>
      <p:sp>
        <p:nvSpPr>
          <p:cNvPr id="145" name="Google Shape;145;p25"/>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BTW, what’s the data type of value saved to answer?</a:t>
            </a: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A: It’s a string.  The input statement always returns a string.</a:t>
            </a: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spcAft>
                <a:spcPts val="2133"/>
              </a:spcAft>
              <a:buNone/>
            </a:pPr>
            <a:endParaRPr sz="3200"/>
          </a:p>
        </p:txBody>
      </p:sp>
      <p:pic>
        <p:nvPicPr>
          <p:cNvPr id="2" name="Picture 1">
            <a:extLst>
              <a:ext uri="{FF2B5EF4-FFF2-40B4-BE49-F238E27FC236}">
                <a16:creationId xmlns:a16="http://schemas.microsoft.com/office/drawing/2014/main" id="{DE09AD4C-7812-0345-8B25-D6467F87F25B}"/>
              </a:ext>
            </a:extLst>
          </p:cNvPr>
          <p:cNvPicPr>
            <a:picLocks noChangeAspect="1"/>
          </p:cNvPicPr>
          <p:nvPr/>
        </p:nvPicPr>
        <p:blipFill>
          <a:blip r:embed="rId4"/>
          <a:stretch>
            <a:fillRect/>
          </a:stretch>
        </p:blipFill>
        <p:spPr>
          <a:xfrm>
            <a:off x="1873326" y="1661480"/>
            <a:ext cx="7490588" cy="1896967"/>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xEl>
                                              <p:pRg st="3" end="3"/>
                                            </p:txEl>
                                          </p:spTgt>
                                        </p:tgtEl>
                                        <p:attrNameLst>
                                          <p:attrName>style.visibility</p:attrName>
                                        </p:attrNameLst>
                                      </p:cBhvr>
                                      <p:to>
                                        <p:strVal val="visible"/>
                                      </p:to>
                                    </p:set>
                                    <p:animEffect transition="in" filter="fade">
                                      <p:cBhvr>
                                        <p:cTn id="7" dur="1000"/>
                                        <p:tgtEl>
                                          <p:spTgt spid="14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xEl>
                                              <p:pRg st="4" end="4"/>
                                            </p:txEl>
                                          </p:spTgt>
                                        </p:tgtEl>
                                        <p:attrNameLst>
                                          <p:attrName>style.visibility</p:attrName>
                                        </p:attrNameLst>
                                      </p:cBhvr>
                                      <p:to>
                                        <p:strVal val="visible"/>
                                      </p:to>
                                    </p:set>
                                    <p:animEffect transition="in" filter="fade">
                                      <p:cBhvr>
                                        <p:cTn id="12" dur="1000"/>
                                        <p:tgtEl>
                                          <p:spTgt spid="14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 error </a:t>
            </a:r>
          </a:p>
        </p:txBody>
      </p:sp>
      <p:sp>
        <p:nvSpPr>
          <p:cNvPr id="152" name="Google Shape;152;p26"/>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What will happen when I run this code?</a:t>
            </a: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A: It will give me an error!</a:t>
            </a:r>
            <a:endParaRPr sz="3200">
              <a:solidFill>
                <a:srgbClr val="3B454E"/>
              </a:solidFill>
              <a:highlight>
                <a:srgbClr val="FFFFFF"/>
              </a:highlight>
            </a:endParaRPr>
          </a:p>
          <a:p>
            <a:pPr marL="0" indent="0">
              <a:spcBef>
                <a:spcPts val="2133"/>
              </a:spcBef>
              <a:spcAft>
                <a:spcPts val="2133"/>
              </a:spcAft>
              <a:buNone/>
            </a:pPr>
            <a:endParaRPr sz="3200"/>
          </a:p>
        </p:txBody>
      </p:sp>
      <p:pic>
        <p:nvPicPr>
          <p:cNvPr id="153" name="Google Shape;153;p26" descr="sideOfSquare = input(&quot;How long is the side of your square? &quot;)&#10;areasOfSquare = sideOfSquare * sideOfSquare&#10;"/>
          <p:cNvPicPr preferRelativeResize="0"/>
          <p:nvPr/>
        </p:nvPicPr>
        <p:blipFill>
          <a:blip r:embed="rId4">
            <a:alphaModFix/>
          </a:blip>
          <a:stretch>
            <a:fillRect/>
          </a:stretch>
        </p:blipFill>
        <p:spPr>
          <a:xfrm>
            <a:off x="415600" y="1816501"/>
            <a:ext cx="9810933" cy="1216233"/>
          </a:xfrm>
          <a:prstGeom prst="rect">
            <a:avLst/>
          </a:prstGeom>
          <a:noFill/>
          <a:ln>
            <a:noFill/>
          </a:ln>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xEl>
                                              <p:pRg st="2" end="2"/>
                                            </p:txEl>
                                          </p:spTgt>
                                        </p:tgtEl>
                                        <p:attrNameLst>
                                          <p:attrName>style.visibility</p:attrName>
                                        </p:attrNameLst>
                                      </p:cBhvr>
                                      <p:to>
                                        <p:strVal val="visible"/>
                                      </p:to>
                                    </p:set>
                                    <p:animEffect transition="in" filter="fade">
                                      <p:cBhvr>
                                        <p:cTn id="7" dur="1000"/>
                                        <p:tgtEl>
                                          <p:spTgt spid="15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2">
                                            <p:txEl>
                                              <p:pRg st="3" end="3"/>
                                            </p:txEl>
                                          </p:spTgt>
                                        </p:tgtEl>
                                        <p:attrNameLst>
                                          <p:attrName>style.visibility</p:attrName>
                                        </p:attrNameLst>
                                      </p:cBhvr>
                                      <p:to>
                                        <p:strVal val="visible"/>
                                      </p:to>
                                    </p:set>
                                    <p:animEffect transition="in" filter="fade">
                                      <p:cBhvr>
                                        <p:cTn id="12" dur="1000"/>
                                        <p:tgtEl>
                                          <p:spTgt spid="1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588263" y="393405"/>
            <a:ext cx="11018520" cy="553998"/>
          </a:xfrm>
          <a:prstGeom prst="rect">
            <a:avLst/>
          </a:prstGeom>
        </p:spPr>
        <p:txBody>
          <a:bodyPr spcFirstLastPara="1" vert="horz" wrap="square" lIns="121900" tIns="121900" rIns="121900" bIns="121900" rtlCol="0" anchor="t" anchorCtr="0">
            <a:noAutofit/>
          </a:bodyPr>
          <a:lstStyle/>
          <a:p>
            <a:r>
              <a:rPr lang="en-US" dirty="0"/>
              <a:t>Input statement – </a:t>
            </a:r>
            <a:r>
              <a:rPr lang="en-US" dirty="0">
                <a:latin typeface="Consolas" panose="020B0609020204030204" pitchFamily="49" charset="0"/>
              </a:rPr>
              <a:t>int()</a:t>
            </a:r>
            <a:r>
              <a:rPr lang="en-US" dirty="0"/>
              <a:t> </a:t>
            </a:r>
          </a:p>
        </p:txBody>
      </p:sp>
      <p:sp>
        <p:nvSpPr>
          <p:cNvPr id="160" name="Google Shape;160;p27"/>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p:txBody>
      </p:sp>
      <p:pic>
        <p:nvPicPr>
          <p:cNvPr id="161" name="Google Shape;161;p27" descr="sideOfSquare = int(input(&quot;How long is the side of your square? &quot;))&#10;areasOfSquare = sideOfSquare * sideOfSquare&#10;"/>
          <p:cNvPicPr preferRelativeResize="0"/>
          <p:nvPr/>
        </p:nvPicPr>
        <p:blipFill>
          <a:blip r:embed="rId4">
            <a:alphaModFix/>
          </a:blip>
          <a:stretch>
            <a:fillRect/>
          </a:stretch>
        </p:blipFill>
        <p:spPr>
          <a:xfrm>
            <a:off x="485700" y="1768434"/>
            <a:ext cx="10613701" cy="1126933"/>
          </a:xfrm>
          <a:prstGeom prst="rect">
            <a:avLst/>
          </a:prstGeom>
          <a:noFill/>
          <a:ln>
            <a:noFill/>
          </a:ln>
        </p:spPr>
      </p:pic>
    </p:spTree>
    <p:custDataLst>
      <p:tags r:id="rId1"/>
    </p:custData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6794E-9C6C-4944-B306-C20173245E06}"/>
              </a:ext>
            </a:extLst>
          </p:cNvPr>
          <p:cNvSpPr>
            <a:spLocks noGrp="1"/>
          </p:cNvSpPr>
          <p:nvPr>
            <p:ph type="title"/>
          </p:nvPr>
        </p:nvSpPr>
        <p:spPr/>
        <p:txBody>
          <a:bodyPr/>
          <a:lstStyle/>
          <a:p>
            <a:r>
              <a:rPr lang="en-US" dirty="0"/>
              <a:t>Lab – magic genie</a:t>
            </a:r>
          </a:p>
        </p:txBody>
      </p:sp>
      <p:sp>
        <p:nvSpPr>
          <p:cNvPr id="3" name="Content Placeholder 2">
            <a:extLst>
              <a:ext uri="{FF2B5EF4-FFF2-40B4-BE49-F238E27FC236}">
                <a16:creationId xmlns:a16="http://schemas.microsoft.com/office/drawing/2014/main" id="{0D083B4B-D603-4218-B2ED-4017DE07CAAB}"/>
              </a:ext>
            </a:extLst>
          </p:cNvPr>
          <p:cNvSpPr>
            <a:spLocks noGrp="1"/>
          </p:cNvSpPr>
          <p:nvPr>
            <p:ph sz="quarter" idx="10"/>
          </p:nvPr>
        </p:nvSpPr>
        <p:spPr>
          <a:xfrm>
            <a:off x="584200" y="1435100"/>
            <a:ext cx="11018838" cy="1465016"/>
          </a:xfrm>
        </p:spPr>
        <p:txBody>
          <a:bodyPr/>
          <a:lstStyle/>
          <a:p>
            <a:pPr marL="0" indent="0">
              <a:buNone/>
            </a:pPr>
            <a:r>
              <a:rPr lang="en-US" b="1" dirty="0"/>
              <a:t>Project objective</a:t>
            </a:r>
          </a:p>
          <a:p>
            <a:r>
              <a:rPr lang="en-US" dirty="0"/>
              <a:t>Use Python to interact with variables and user input</a:t>
            </a:r>
          </a:p>
          <a:p>
            <a:r>
              <a:rPr lang="en-US" dirty="0"/>
              <a:t>Create a genie program. Save the file as </a:t>
            </a:r>
            <a:r>
              <a:rPr lang="en-US" dirty="0" err="1"/>
              <a:t>magic_genie.ipynb</a:t>
            </a:r>
            <a:r>
              <a:rPr lang="en-US" dirty="0"/>
              <a:t>.</a:t>
            </a:r>
          </a:p>
        </p:txBody>
      </p:sp>
    </p:spTree>
    <p:custDataLst>
      <p:tags r:id="rId1"/>
    </p:custDataLst>
    <p:extLst>
      <p:ext uri="{BB962C8B-B14F-4D97-AF65-F5344CB8AC3E}">
        <p14:creationId xmlns:p14="http://schemas.microsoft.com/office/powerpoint/2010/main" val="406791769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17C11-8A5B-413E-B58B-8780A3625C3F}"/>
              </a:ext>
            </a:extLst>
          </p:cNvPr>
          <p:cNvSpPr>
            <a:spLocks noGrp="1"/>
          </p:cNvSpPr>
          <p:nvPr>
            <p:ph type="title"/>
          </p:nvPr>
        </p:nvSpPr>
        <p:spPr/>
        <p:txBody>
          <a:bodyPr/>
          <a:lstStyle/>
          <a:p>
            <a:r>
              <a:rPr lang="en-US" dirty="0"/>
              <a:t>Project specifications</a:t>
            </a:r>
          </a:p>
        </p:txBody>
      </p:sp>
      <p:sp>
        <p:nvSpPr>
          <p:cNvPr id="3" name="Content Placeholder 2">
            <a:extLst>
              <a:ext uri="{FF2B5EF4-FFF2-40B4-BE49-F238E27FC236}">
                <a16:creationId xmlns:a16="http://schemas.microsoft.com/office/drawing/2014/main" id="{4E8D3040-8723-4F6D-9A8C-EB77308C8F9B}"/>
              </a:ext>
            </a:extLst>
          </p:cNvPr>
          <p:cNvSpPr>
            <a:spLocks noGrp="1"/>
          </p:cNvSpPr>
          <p:nvPr>
            <p:ph sz="quarter" idx="12"/>
          </p:nvPr>
        </p:nvSpPr>
        <p:spPr>
          <a:xfrm>
            <a:off x="584200" y="1435100"/>
            <a:ext cx="5211763" cy="4308872"/>
          </a:xfrm>
        </p:spPr>
        <p:txBody>
          <a:bodyPr/>
          <a:lstStyle/>
          <a:p>
            <a:pPr marL="514350" indent="-514350">
              <a:buFont typeface="+mj-lt"/>
              <a:buAutoNum type="arabicPeriod"/>
            </a:pPr>
            <a:r>
              <a:rPr lang="en-US" dirty="0"/>
              <a:t>Have the program introduce itself</a:t>
            </a:r>
          </a:p>
          <a:p>
            <a:pPr marL="514350" indent="-514350">
              <a:buFont typeface="+mj-lt"/>
              <a:buAutoNum type="arabicPeriod"/>
            </a:pPr>
            <a:r>
              <a:rPr lang="en-US" dirty="0"/>
              <a:t>Have the program ask for three separate wishes</a:t>
            </a:r>
          </a:p>
          <a:p>
            <a:pPr marL="514350" indent="-514350">
              <a:buFont typeface="+mj-lt"/>
              <a:buAutoNum type="arabicPeriod"/>
            </a:pPr>
            <a:r>
              <a:rPr lang="en-US" dirty="0"/>
              <a:t>Print all the wishes together</a:t>
            </a:r>
          </a:p>
          <a:p>
            <a:pPr marL="514350" indent="-514350">
              <a:buFont typeface="+mj-lt"/>
              <a:buAutoNum type="arabicPeriod"/>
            </a:pPr>
            <a:r>
              <a:rPr lang="en-US" dirty="0"/>
              <a:t>There are some repeated strings in this genie program </a:t>
            </a:r>
          </a:p>
          <a:p>
            <a:pPr marL="742950" lvl="1" indent="-514350">
              <a:buFont typeface="+mj-lt"/>
              <a:buAutoNum type="alphaLcPeriod"/>
            </a:pPr>
            <a:r>
              <a:rPr lang="en-US" sz="2800" dirty="0"/>
              <a:t>Move those into variables</a:t>
            </a:r>
          </a:p>
          <a:p>
            <a:endParaRPr lang="en-US" dirty="0"/>
          </a:p>
        </p:txBody>
      </p:sp>
      <p:sp>
        <p:nvSpPr>
          <p:cNvPr id="7" name="Content Placeholder 6">
            <a:extLst>
              <a:ext uri="{FF2B5EF4-FFF2-40B4-BE49-F238E27FC236}">
                <a16:creationId xmlns:a16="http://schemas.microsoft.com/office/drawing/2014/main" id="{3FA9154A-4415-49E5-8B23-437746322A60}"/>
              </a:ext>
            </a:extLst>
          </p:cNvPr>
          <p:cNvSpPr>
            <a:spLocks noGrp="1"/>
          </p:cNvSpPr>
          <p:nvPr>
            <p:ph sz="quarter" idx="13"/>
          </p:nvPr>
        </p:nvSpPr>
        <p:spPr>
          <a:xfrm>
            <a:off x="6387083" y="2120900"/>
            <a:ext cx="5219700" cy="2019014"/>
          </a:xfrm>
        </p:spPr>
        <p:txBody>
          <a:bodyPr/>
          <a:lstStyle/>
          <a:p>
            <a:pPr>
              <a:buFont typeface="Wingdings" panose="05000000000000000000" pitchFamily="2" charset="2"/>
              <a:buChar char="Ø"/>
            </a:pPr>
            <a:r>
              <a:rPr lang="en-US" sz="1600" dirty="0">
                <a:latin typeface="Consolas" panose="020B0609020204030204" pitchFamily="49" charset="0"/>
              </a:rPr>
              <a:t>Image of Output. Here is the test</a:t>
            </a:r>
          </a:p>
          <a:p>
            <a:pPr>
              <a:buFont typeface="Wingdings" panose="05000000000000000000" pitchFamily="2" charset="2"/>
              <a:buChar char="Ø"/>
            </a:pPr>
            <a:r>
              <a:rPr lang="en-US" sz="1600" dirty="0">
                <a:latin typeface="Consolas" panose="020B0609020204030204" pitchFamily="49" charset="0"/>
              </a:rPr>
              <a:t>I am a genie. You have three wishes</a:t>
            </a:r>
          </a:p>
          <a:p>
            <a:pPr>
              <a:buFont typeface="Wingdings" panose="05000000000000000000" pitchFamily="2" charset="2"/>
              <a:buChar char="Ø"/>
            </a:pPr>
            <a:r>
              <a:rPr lang="en-US" sz="1600" dirty="0">
                <a:latin typeface="Consolas" panose="020B0609020204030204" pitchFamily="49" charset="0"/>
              </a:rPr>
              <a:t>What would you like to wish for? cats</a:t>
            </a:r>
          </a:p>
          <a:p>
            <a:pPr>
              <a:buFont typeface="Wingdings" panose="05000000000000000000" pitchFamily="2" charset="2"/>
              <a:buChar char="Ø"/>
            </a:pPr>
            <a:r>
              <a:rPr lang="en-US" sz="1600" dirty="0">
                <a:latin typeface="Consolas" panose="020B0609020204030204" pitchFamily="49" charset="0"/>
              </a:rPr>
              <a:t>What would you like to wish for? kittens</a:t>
            </a:r>
          </a:p>
          <a:p>
            <a:pPr>
              <a:buFont typeface="Wingdings" panose="05000000000000000000" pitchFamily="2" charset="2"/>
              <a:buChar char="Ø"/>
            </a:pPr>
            <a:r>
              <a:rPr lang="en-US" sz="1600" dirty="0">
                <a:latin typeface="Consolas" panose="020B0609020204030204" pitchFamily="49" charset="0"/>
              </a:rPr>
              <a:t>What would you like to wish for? more cats</a:t>
            </a:r>
          </a:p>
          <a:p>
            <a:pPr>
              <a:buFont typeface="Wingdings" panose="05000000000000000000" pitchFamily="2" charset="2"/>
              <a:buChar char="Ø"/>
            </a:pPr>
            <a:r>
              <a:rPr lang="en-US" sz="1600" dirty="0">
                <a:latin typeface="Consolas" panose="020B0609020204030204" pitchFamily="49" charset="0"/>
              </a:rPr>
              <a:t>Your wishes are cats, kittens and more cats</a:t>
            </a:r>
          </a:p>
          <a:p>
            <a:endParaRPr lang="en-US" sz="1600" dirty="0">
              <a:latin typeface="Consolas" panose="020B0609020204030204" pitchFamily="49" charset="0"/>
            </a:endParaRPr>
          </a:p>
        </p:txBody>
      </p:sp>
    </p:spTree>
    <p:extLst>
      <p:ext uri="{BB962C8B-B14F-4D97-AF65-F5344CB8AC3E}">
        <p14:creationId xmlns:p14="http://schemas.microsoft.com/office/powerpoint/2010/main" val="288854883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5026-5C47-4F40-B3CF-1A1B03E48E2F}"/>
              </a:ext>
            </a:extLst>
          </p:cNvPr>
          <p:cNvSpPr>
            <a:spLocks noGrp="1"/>
          </p:cNvSpPr>
          <p:nvPr>
            <p:ph type="title"/>
          </p:nvPr>
        </p:nvSpPr>
        <p:spPr/>
        <p:txBody>
          <a:bodyPr/>
          <a:lstStyle/>
          <a:p>
            <a:r>
              <a:rPr lang="en-US" dirty="0"/>
              <a:t>Genie Confusion</a:t>
            </a:r>
          </a:p>
        </p:txBody>
      </p:sp>
      <p:sp>
        <p:nvSpPr>
          <p:cNvPr id="3" name="Content Placeholder 2">
            <a:extLst>
              <a:ext uri="{FF2B5EF4-FFF2-40B4-BE49-F238E27FC236}">
                <a16:creationId xmlns:a16="http://schemas.microsoft.com/office/drawing/2014/main" id="{59FB8ECF-9662-427D-B56A-18200AA01319}"/>
              </a:ext>
            </a:extLst>
          </p:cNvPr>
          <p:cNvSpPr>
            <a:spLocks noGrp="1"/>
          </p:cNvSpPr>
          <p:nvPr>
            <p:ph sz="quarter" idx="12"/>
          </p:nvPr>
        </p:nvSpPr>
        <p:spPr>
          <a:xfrm>
            <a:off x="584200" y="1435100"/>
            <a:ext cx="5211763" cy="4739759"/>
          </a:xfrm>
        </p:spPr>
        <p:txBody>
          <a:bodyPr/>
          <a:lstStyle/>
          <a:p>
            <a:r>
              <a:rPr lang="en-US" dirty="0"/>
              <a:t>Now it’s time to make your genie confused</a:t>
            </a:r>
          </a:p>
          <a:p>
            <a:r>
              <a:rPr lang="en-US" dirty="0"/>
              <a:t>Edit your code to have him </a:t>
            </a:r>
          </a:p>
          <a:p>
            <a:pPr marL="742950" lvl="1" indent="-514350">
              <a:buFont typeface="+mj-lt"/>
              <a:buAutoNum type="arabicPeriod"/>
            </a:pPr>
            <a:r>
              <a:rPr lang="en-US" sz="2800" dirty="0"/>
              <a:t>Print your first wish as your last wish</a:t>
            </a:r>
          </a:p>
          <a:p>
            <a:pPr marL="742950" lvl="1" indent="-514350">
              <a:buFont typeface="+mj-lt"/>
              <a:buAutoNum type="arabicPeriod"/>
            </a:pPr>
            <a:r>
              <a:rPr lang="en-US" sz="2800" dirty="0"/>
              <a:t>Your second wish as your first wish</a:t>
            </a:r>
          </a:p>
          <a:p>
            <a:pPr marL="742950" lvl="1" indent="-514350">
              <a:buFont typeface="+mj-lt"/>
              <a:buAutoNum type="arabicPeriod"/>
            </a:pPr>
            <a:r>
              <a:rPr lang="en-US" sz="2800" dirty="0"/>
              <a:t>Your third wish as your second wish</a:t>
            </a:r>
          </a:p>
          <a:p>
            <a:pPr marL="0" indent="0">
              <a:buNone/>
            </a:pPr>
            <a:endParaRPr lang="en-US" dirty="0"/>
          </a:p>
        </p:txBody>
      </p:sp>
      <p:sp>
        <p:nvSpPr>
          <p:cNvPr id="10" name="Content Placeholder 9">
            <a:extLst>
              <a:ext uri="{FF2B5EF4-FFF2-40B4-BE49-F238E27FC236}">
                <a16:creationId xmlns:a16="http://schemas.microsoft.com/office/drawing/2014/main" id="{4B75B764-3990-4538-8680-947C7A255E09}"/>
              </a:ext>
            </a:extLst>
          </p:cNvPr>
          <p:cNvSpPr>
            <a:spLocks noGrp="1"/>
          </p:cNvSpPr>
          <p:nvPr>
            <p:ph sz="quarter" idx="13"/>
          </p:nvPr>
        </p:nvSpPr>
        <p:spPr>
          <a:xfrm>
            <a:off x="6096000" y="1483852"/>
            <a:ext cx="5219700" cy="1945148"/>
          </a:xfrm>
        </p:spPr>
        <p:txBody>
          <a:bodyPr/>
          <a:lstStyle/>
          <a:p>
            <a:pPr>
              <a:buFont typeface="Wingdings" panose="05000000000000000000" pitchFamily="2" charset="2"/>
              <a:buChar char="Ø"/>
            </a:pPr>
            <a:r>
              <a:rPr lang="en-US" sz="1600" dirty="0">
                <a:latin typeface="Consolas" panose="020B0609020204030204" pitchFamily="49" charset="0"/>
              </a:rPr>
              <a:t>I am a genie. You have three wishes</a:t>
            </a:r>
          </a:p>
          <a:p>
            <a:pPr>
              <a:buFont typeface="Wingdings" panose="05000000000000000000" pitchFamily="2" charset="2"/>
              <a:buChar char="Ø"/>
            </a:pPr>
            <a:r>
              <a:rPr lang="en-US" sz="1600" dirty="0">
                <a:latin typeface="Consolas" panose="020B0609020204030204" pitchFamily="49" charset="0"/>
              </a:rPr>
              <a:t>What would you like to wish for? cats</a:t>
            </a:r>
          </a:p>
          <a:p>
            <a:pPr>
              <a:buFont typeface="Wingdings" panose="05000000000000000000" pitchFamily="2" charset="2"/>
              <a:buChar char="Ø"/>
            </a:pPr>
            <a:r>
              <a:rPr lang="en-US" sz="1600" dirty="0">
                <a:latin typeface="Consolas" panose="020B0609020204030204" pitchFamily="49" charset="0"/>
              </a:rPr>
              <a:t>What would you like to wish for? kittens</a:t>
            </a:r>
          </a:p>
          <a:p>
            <a:pPr>
              <a:buFont typeface="Wingdings" panose="05000000000000000000" pitchFamily="2" charset="2"/>
              <a:buChar char="Ø"/>
            </a:pPr>
            <a:r>
              <a:rPr lang="en-US" sz="1600" dirty="0">
                <a:latin typeface="Consolas" panose="020B0609020204030204" pitchFamily="49" charset="0"/>
              </a:rPr>
              <a:t>What would you like to wish for? More cats</a:t>
            </a:r>
          </a:p>
          <a:p>
            <a:pPr>
              <a:buFont typeface="Wingdings" panose="05000000000000000000" pitchFamily="2" charset="2"/>
              <a:buChar char="Ø"/>
            </a:pPr>
            <a:r>
              <a:rPr lang="en-US" sz="1600" dirty="0">
                <a:latin typeface="Consolas" panose="020B0609020204030204" pitchFamily="49" charset="0"/>
              </a:rPr>
              <a:t>Your wishes are kittens, more cats and cats</a:t>
            </a:r>
          </a:p>
          <a:p>
            <a:endParaRPr lang="en-US" dirty="0"/>
          </a:p>
        </p:txBody>
      </p:sp>
    </p:spTree>
    <p:extLst>
      <p:ext uri="{BB962C8B-B14F-4D97-AF65-F5344CB8AC3E}">
        <p14:creationId xmlns:p14="http://schemas.microsoft.com/office/powerpoint/2010/main" val="212844103"/>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2FA7-F515-442C-A672-6D844F719E17}"/>
              </a:ext>
            </a:extLst>
          </p:cNvPr>
          <p:cNvSpPr>
            <a:spLocks noGrp="1"/>
          </p:cNvSpPr>
          <p:nvPr>
            <p:ph type="title"/>
          </p:nvPr>
        </p:nvSpPr>
        <p:spPr>
          <a:xfrm>
            <a:off x="588263" y="457200"/>
            <a:ext cx="11018520" cy="553998"/>
          </a:xfrm>
        </p:spPr>
        <p:txBody>
          <a:bodyPr/>
          <a:lstStyle/>
          <a:p>
            <a:r>
              <a:rPr lang="en-US"/>
              <a:t>Hint</a:t>
            </a:r>
            <a:endParaRPr lang="en-US" dirty="0"/>
          </a:p>
        </p:txBody>
      </p:sp>
      <p:sp>
        <p:nvSpPr>
          <p:cNvPr id="3" name="Content Placeholder 2">
            <a:extLst>
              <a:ext uri="{FF2B5EF4-FFF2-40B4-BE49-F238E27FC236}">
                <a16:creationId xmlns:a16="http://schemas.microsoft.com/office/drawing/2014/main" id="{6A604E50-6176-42F1-B623-BE6CD22F6CA5}"/>
              </a:ext>
            </a:extLst>
          </p:cNvPr>
          <p:cNvSpPr>
            <a:spLocks noGrp="1"/>
          </p:cNvSpPr>
          <p:nvPr>
            <p:ph sz="quarter" idx="10"/>
          </p:nvPr>
        </p:nvSpPr>
        <p:spPr>
          <a:xfrm>
            <a:off x="584200" y="1435100"/>
            <a:ext cx="11018838" cy="2326791"/>
          </a:xfrm>
        </p:spPr>
        <p:txBody>
          <a:bodyPr/>
          <a:lstStyle/>
          <a:p>
            <a:r>
              <a:rPr lang="en-US" dirty="0"/>
              <a:t>Remember to add spaces. You can combine </a:t>
            </a:r>
            <a:r>
              <a:rPr lang="en-US" dirty="0">
                <a:latin typeface="Consolas" panose="020B0609020204030204" pitchFamily="49" charset="0"/>
              </a:rPr>
              <a:t>" " </a:t>
            </a:r>
            <a:r>
              <a:rPr lang="en-US" dirty="0"/>
              <a:t>to the end of your string using the + operator</a:t>
            </a:r>
          </a:p>
          <a:p>
            <a:r>
              <a:rPr lang="en-US" dirty="0"/>
              <a:t>So </a:t>
            </a:r>
            <a:r>
              <a:rPr lang="en-US" dirty="0">
                <a:latin typeface="Consolas" panose="020B0609020204030204" pitchFamily="49" charset="0"/>
              </a:rPr>
              <a:t>print("hello" + " " + "student")</a:t>
            </a:r>
            <a:r>
              <a:rPr lang="en-US" dirty="0"/>
              <a:t> would print </a:t>
            </a:r>
            <a:r>
              <a:rPr lang="en-US" dirty="0">
                <a:latin typeface="Consolas" panose="020B0609020204030204" pitchFamily="49" charset="0"/>
              </a:rPr>
              <a:t>hello student</a:t>
            </a:r>
          </a:p>
          <a:p>
            <a:endParaRPr lang="en-US" dirty="0"/>
          </a:p>
        </p:txBody>
      </p:sp>
    </p:spTree>
    <p:extLst>
      <p:ext uri="{BB962C8B-B14F-4D97-AF65-F5344CB8AC3E}">
        <p14:creationId xmlns:p14="http://schemas.microsoft.com/office/powerpoint/2010/main" val="118148583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B072-AF8A-48E7-B700-4F1A9C3A77F2}"/>
              </a:ext>
            </a:extLst>
          </p:cNvPr>
          <p:cNvSpPr>
            <a:spLocks noGrp="1"/>
          </p:cNvSpPr>
          <p:nvPr>
            <p:ph type="title"/>
          </p:nvPr>
        </p:nvSpPr>
        <p:spPr/>
        <p:txBody>
          <a:bodyPr/>
          <a:lstStyle/>
          <a:p>
            <a:r>
              <a:rPr lang="en-US" dirty="0"/>
              <a:t>Snap! Flashback</a:t>
            </a:r>
          </a:p>
        </p:txBody>
      </p:sp>
      <p:sp>
        <p:nvSpPr>
          <p:cNvPr id="3" name="Content Placeholder 2">
            <a:extLst>
              <a:ext uri="{FF2B5EF4-FFF2-40B4-BE49-F238E27FC236}">
                <a16:creationId xmlns:a16="http://schemas.microsoft.com/office/drawing/2014/main" id="{4BBBFA9F-DCC8-4D57-BD87-B6BB5C0DF0FC}"/>
              </a:ext>
            </a:extLst>
          </p:cNvPr>
          <p:cNvSpPr>
            <a:spLocks noGrp="1"/>
          </p:cNvSpPr>
          <p:nvPr>
            <p:ph sz="quarter" idx="10"/>
          </p:nvPr>
        </p:nvSpPr>
        <p:spPr/>
        <p:txBody>
          <a:bodyPr/>
          <a:lstStyle/>
          <a:p>
            <a:r>
              <a:rPr lang="en-US" dirty="0"/>
              <a:t>Look at how you would write this code in Snap!</a:t>
            </a:r>
          </a:p>
        </p:txBody>
      </p:sp>
      <p:pic>
        <p:nvPicPr>
          <p:cNvPr id="3074" name="Picture 2" descr="Snap! Code&#10;When Green Flag is clicked&#10;Say I am a Genie. You have three wishes&#10;ask What would you like to wish for? and wait&#10;set wish1 to answer&#10;ask What would you like to wish for? and wait&#10;set wish2 to answer&#10;ask What would you like to wish for? and wait&#10;set wish3 to answer&#10;Say Join your wishes are join wish1 wish 2 join and wish 3&#10;for 2 secs">
            <a:extLst>
              <a:ext uri="{FF2B5EF4-FFF2-40B4-BE49-F238E27FC236}">
                <a16:creationId xmlns:a16="http://schemas.microsoft.com/office/drawing/2014/main" id="{16F3243F-BC5F-42B7-9D26-64F6A3051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395" y="2057400"/>
            <a:ext cx="7325542" cy="4635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34847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1.05: </a:t>
            </a:r>
            <a:r>
              <a:rPr lang="en-US" b="1" dirty="0"/>
              <a:t>Quiz &amp; Debugging</a:t>
            </a:r>
            <a:endParaRPr lang="en-US" dirty="0">
              <a:cs typeface="Segoe UI"/>
            </a:endParaRP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11461044" cy="677108"/>
          </a:xfrm>
        </p:spPr>
        <p:txBody>
          <a:bodyPr/>
          <a:lstStyle/>
          <a:p>
            <a:r>
              <a:rPr lang="en-US" dirty="0">
                <a:cs typeface="Segoe UI"/>
              </a:rPr>
              <a:t>Microsoft Philanthropies TEALS Program – Introduction to Computer Science – Semester 2</a:t>
            </a:r>
          </a:p>
        </p:txBody>
      </p:sp>
      <p:pic>
        <p:nvPicPr>
          <p:cNvPr id="4" name="Picture 3"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40094" y="6360761"/>
            <a:ext cx="3105150" cy="390525"/>
          </a:xfrm>
          <a:prstGeom prst="rect">
            <a:avLst/>
          </a:prstGeom>
        </p:spPr>
      </p:pic>
    </p:spTree>
    <p:extLst>
      <p:ext uri="{BB962C8B-B14F-4D97-AF65-F5344CB8AC3E}">
        <p14:creationId xmlns:p14="http://schemas.microsoft.com/office/powerpoint/2010/main" val="381586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b="1" dirty="0"/>
              <a:t>Quiz &amp; Debugging</a:t>
            </a:r>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Demonstrate their understanding of key concepts covered up to this point</a:t>
            </a:r>
          </a:p>
          <a:p>
            <a:pPr marL="342900" indent="-342900">
              <a:buFont typeface="Arial" panose="020B0604020202020204" pitchFamily="34" charset="0"/>
              <a:buChar char="•"/>
            </a:pPr>
            <a:r>
              <a:rPr lang="en-US" dirty="0"/>
              <a:t>Define and identify </a:t>
            </a:r>
            <a:r>
              <a:rPr lang="en-US" b="1" dirty="0"/>
              <a:t>debugging, syntax errors</a:t>
            </a:r>
          </a:p>
          <a:p>
            <a:pPr marL="342900" indent="-342900">
              <a:buFont typeface="Arial" panose="020B0604020202020204" pitchFamily="34" charset="0"/>
              <a:buChar char="•"/>
            </a:pPr>
            <a:r>
              <a:rPr lang="en-US" dirty="0"/>
              <a:t>Analyze and respond to error messages</a:t>
            </a:r>
          </a:p>
        </p:txBody>
      </p:sp>
    </p:spTree>
    <p:extLst>
      <p:ext uri="{BB962C8B-B14F-4D97-AF65-F5344CB8AC3E}">
        <p14:creationId xmlns:p14="http://schemas.microsoft.com/office/powerpoint/2010/main" val="189542655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400657"/>
          </a:xfrm>
        </p:spPr>
        <p:txBody>
          <a:bodyPr/>
          <a:lstStyle/>
          <a:p>
            <a:r>
              <a:rPr lang="en-US" sz="4000" dirty="0"/>
              <a:t>Welcome and Review</a:t>
            </a:r>
          </a:p>
          <a:p>
            <a:r>
              <a:rPr lang="en-US" sz="4000" dirty="0"/>
              <a:t>Quiz</a:t>
            </a:r>
          </a:p>
          <a:p>
            <a:r>
              <a:rPr lang="en-US" sz="4000" dirty="0"/>
              <a:t>Debugging Activity</a:t>
            </a:r>
          </a:p>
        </p:txBody>
      </p:sp>
    </p:spTree>
    <p:extLst>
      <p:ext uri="{BB962C8B-B14F-4D97-AF65-F5344CB8AC3E}">
        <p14:creationId xmlns:p14="http://schemas.microsoft.com/office/powerpoint/2010/main" val="380777851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Welcome and Review</a:t>
            </a:r>
          </a:p>
        </p:txBody>
      </p:sp>
      <p:sp>
        <p:nvSpPr>
          <p:cNvPr id="2" name="Text Placeholder 1">
            <a:extLst>
              <a:ext uri="{FF2B5EF4-FFF2-40B4-BE49-F238E27FC236}">
                <a16:creationId xmlns:a16="http://schemas.microsoft.com/office/drawing/2014/main" id="{A699B7D1-7972-402F-A852-F116A96E55D2}"/>
              </a:ext>
            </a:extLst>
          </p:cNvPr>
          <p:cNvSpPr>
            <a:spLocks noGrp="1"/>
          </p:cNvSpPr>
          <p:nvPr>
            <p:ph type="body" sz="quarter" idx="10"/>
          </p:nvPr>
        </p:nvSpPr>
        <p:spPr>
          <a:xfrm>
            <a:off x="586390" y="1434370"/>
            <a:ext cx="11018520" cy="430887"/>
          </a:xfrm>
        </p:spPr>
        <p:txBody>
          <a:bodyPr/>
          <a:lstStyle/>
          <a:p>
            <a:r>
              <a:rPr lang="en-US" dirty="0"/>
              <a:t>Are there any questions prior to taking today’s quiz?</a:t>
            </a:r>
          </a:p>
        </p:txBody>
      </p:sp>
    </p:spTree>
    <p:extLst>
      <p:ext uri="{BB962C8B-B14F-4D97-AF65-F5344CB8AC3E}">
        <p14:creationId xmlns:p14="http://schemas.microsoft.com/office/powerpoint/2010/main" val="21505729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2D28-976F-468B-8163-D93D1849C564}"/>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02CE4B4E-7C3C-4674-AEE8-6DCF3EC16C91}"/>
              </a:ext>
            </a:extLst>
          </p:cNvPr>
          <p:cNvSpPr>
            <a:spLocks noGrp="1"/>
          </p:cNvSpPr>
          <p:nvPr>
            <p:ph type="body" sz="quarter" idx="10"/>
          </p:nvPr>
        </p:nvSpPr>
        <p:spPr>
          <a:xfrm>
            <a:off x="586390" y="1434370"/>
            <a:ext cx="11447566" cy="276999"/>
          </a:xfrm>
        </p:spPr>
        <p:txBody>
          <a:bodyPr/>
          <a:lstStyle/>
          <a:p>
            <a:pPr marL="514350" indent="-514350">
              <a:buFont typeface="+mj-lt"/>
              <a:buAutoNum type="arabicPeriod"/>
            </a:pPr>
            <a:endParaRPr lang="en-US" sz="1800" dirty="0"/>
          </a:p>
        </p:txBody>
      </p:sp>
    </p:spTree>
    <p:extLst>
      <p:ext uri="{BB962C8B-B14F-4D97-AF65-F5344CB8AC3E}">
        <p14:creationId xmlns:p14="http://schemas.microsoft.com/office/powerpoint/2010/main" val="348574682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CADA-1FAB-4A7E-92BF-3685527D3A52}"/>
              </a:ext>
            </a:extLst>
          </p:cNvPr>
          <p:cNvSpPr>
            <a:spLocks noGrp="1"/>
          </p:cNvSpPr>
          <p:nvPr>
            <p:ph type="title"/>
          </p:nvPr>
        </p:nvSpPr>
        <p:spPr/>
        <p:txBody>
          <a:bodyPr/>
          <a:lstStyle/>
          <a:p>
            <a:r>
              <a:rPr lang="en-US" dirty="0"/>
              <a:t>Debugging Activity</a:t>
            </a:r>
          </a:p>
        </p:txBody>
      </p:sp>
      <p:sp>
        <p:nvSpPr>
          <p:cNvPr id="3" name="Text Placeholder 2">
            <a:extLst>
              <a:ext uri="{FF2B5EF4-FFF2-40B4-BE49-F238E27FC236}">
                <a16:creationId xmlns:a16="http://schemas.microsoft.com/office/drawing/2014/main" id="{0A524B60-2FBD-4390-A064-551BC1BEBAAD}"/>
              </a:ext>
            </a:extLst>
          </p:cNvPr>
          <p:cNvSpPr>
            <a:spLocks noGrp="1"/>
          </p:cNvSpPr>
          <p:nvPr>
            <p:ph type="body" sz="quarter" idx="10"/>
          </p:nvPr>
        </p:nvSpPr>
        <p:spPr>
          <a:xfrm>
            <a:off x="586390" y="1434370"/>
            <a:ext cx="11018520" cy="5072158"/>
          </a:xfrm>
        </p:spPr>
        <p:txBody>
          <a:bodyPr/>
          <a:lstStyle/>
          <a:p>
            <a:r>
              <a:rPr lang="en-US" dirty="0"/>
              <a:t>Exploring and Analyzing Code for errors</a:t>
            </a:r>
          </a:p>
          <a:p>
            <a:endParaRPr lang="en-US" dirty="0"/>
          </a:p>
          <a:p>
            <a:r>
              <a:rPr lang="en-US" dirty="0"/>
              <a:t>In your notebook, predict what will happen when you run this code</a:t>
            </a:r>
          </a:p>
          <a:p>
            <a:pPr marL="514350" indent="-514350">
              <a:buFont typeface="+mj-lt"/>
              <a:buAutoNum type="arabicPeriod"/>
            </a:pPr>
            <a:endParaRPr lang="en-US" sz="2400" dirty="0"/>
          </a:p>
          <a:p>
            <a:pPr marL="514350" indent="-514350">
              <a:buFont typeface="+mj-lt"/>
              <a:buAutoNum type="arabicPeriod"/>
            </a:pPr>
            <a:r>
              <a:rPr lang="en-US" sz="2400" dirty="0" err="1">
                <a:solidFill>
                  <a:srgbClr val="000000"/>
                </a:solidFill>
                <a:latin typeface="Consolas" panose="020B0609020204030204" pitchFamily="49" charset="0"/>
              </a:rPr>
              <a:t>favorite_number_str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input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"What is your favorite number: "</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err="1">
                <a:solidFill>
                  <a:srgbClr val="000000"/>
                </a:solidFill>
                <a:latin typeface="Consolas" panose="020B0609020204030204" pitchFamily="49" charset="0"/>
              </a:rPr>
              <a:t>birth_month_str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input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"What month where you born in: "</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err="1">
                <a:solidFill>
                  <a:srgbClr val="000000"/>
                </a:solidFill>
                <a:latin typeface="Consolas" panose="020B0609020204030204" pitchFamily="49" charset="0"/>
              </a:rPr>
              <a:t>lucky_number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favorite_number_str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birth_month_str</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a:solidFill>
                  <a:srgbClr val="0000FF"/>
                </a:solidFill>
                <a:latin typeface="Consolas" panose="020B0609020204030204" pitchFamily="49" charset="0"/>
              </a:rPr>
              <a:t>print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"Your lucky number is "</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lucky_number</a:t>
            </a:r>
            <a:r>
              <a:rPr lang="en-US" sz="2400" dirty="0">
                <a:solidFill>
                  <a:srgbClr val="000000"/>
                </a:solidFill>
                <a:latin typeface="Consolas" panose="020B0609020204030204" pitchFamily="49" charset="0"/>
              </a:rPr>
              <a:t>)</a:t>
            </a:r>
          </a:p>
          <a:p>
            <a:pPr marL="514350" indent="-514350">
              <a:buFont typeface="+mj-lt"/>
              <a:buAutoNum type="arabicPeriod"/>
            </a:pPr>
            <a:endParaRPr lang="en-US" sz="2400" dirty="0">
              <a:solidFill>
                <a:srgbClr val="000000"/>
              </a:solidFill>
              <a:latin typeface="Consolas" panose="020B0609020204030204" pitchFamily="49" charset="0"/>
            </a:endParaRPr>
          </a:p>
          <a:p>
            <a:r>
              <a:rPr lang="en-US" dirty="0"/>
              <a:t>Remind students that when reading through code we go line by line, as if we are the interpreter.</a:t>
            </a:r>
          </a:p>
        </p:txBody>
      </p:sp>
    </p:spTree>
    <p:extLst>
      <p:ext uri="{BB962C8B-B14F-4D97-AF65-F5344CB8AC3E}">
        <p14:creationId xmlns:p14="http://schemas.microsoft.com/office/powerpoint/2010/main" val="131590189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1042-8A7E-414D-A9FF-68EF7D758E25}"/>
              </a:ext>
            </a:extLst>
          </p:cNvPr>
          <p:cNvSpPr>
            <a:spLocks noGrp="1"/>
          </p:cNvSpPr>
          <p:nvPr>
            <p:ph type="title"/>
          </p:nvPr>
        </p:nvSpPr>
        <p:spPr/>
        <p:txBody>
          <a:bodyPr/>
          <a:lstStyle/>
          <a:p>
            <a:r>
              <a:rPr lang="en-US" dirty="0"/>
              <a:t>Demonstration</a:t>
            </a:r>
          </a:p>
        </p:txBody>
      </p:sp>
      <p:sp>
        <p:nvSpPr>
          <p:cNvPr id="3" name="Text Placeholder 2">
            <a:extLst>
              <a:ext uri="{FF2B5EF4-FFF2-40B4-BE49-F238E27FC236}">
                <a16:creationId xmlns:a16="http://schemas.microsoft.com/office/drawing/2014/main" id="{BFE26352-18C9-4E02-9724-D82C3872F824}"/>
              </a:ext>
            </a:extLst>
          </p:cNvPr>
          <p:cNvSpPr>
            <a:spLocks noGrp="1"/>
          </p:cNvSpPr>
          <p:nvPr>
            <p:ph type="body" sz="quarter" idx="10"/>
          </p:nvPr>
        </p:nvSpPr>
        <p:spPr>
          <a:xfrm>
            <a:off x="586390" y="1434370"/>
            <a:ext cx="11018520" cy="5170646"/>
          </a:xfrm>
        </p:spPr>
        <p:txBody>
          <a:bodyPr/>
          <a:lstStyle/>
          <a:p>
            <a:r>
              <a:rPr lang="en-US" dirty="0"/>
              <a:t>Demonstrate code from previous slide</a:t>
            </a:r>
          </a:p>
          <a:p>
            <a:endParaRPr lang="en-US" dirty="0"/>
          </a:p>
          <a:p>
            <a:pPr marL="457200" indent="-457200">
              <a:buFont typeface="Arial" panose="020B0604020202020204" pitchFamily="34" charset="0"/>
              <a:buChar char="•"/>
            </a:pPr>
            <a:r>
              <a:rPr lang="en-US" b="1" dirty="0"/>
              <a:t>Debugging</a:t>
            </a:r>
            <a:r>
              <a:rPr lang="en-US" dirty="0"/>
              <a:t> is the process of tracking and fixing errors in your code.</a:t>
            </a:r>
          </a:p>
          <a:p>
            <a:pPr marL="457200" indent="-457200">
              <a:buFont typeface="Arial" panose="020B0604020202020204" pitchFamily="34" charset="0"/>
              <a:buChar char="•"/>
            </a:pPr>
            <a:r>
              <a:rPr lang="en-US" dirty="0"/>
              <a:t>Common Errors – Indentation Errors</a:t>
            </a:r>
          </a:p>
          <a:p>
            <a:endParaRPr lang="en-US" dirty="0"/>
          </a:p>
          <a:p>
            <a:r>
              <a:rPr lang="en-US" dirty="0"/>
              <a:t>Work through and complete this web tutorial on debugging: </a:t>
            </a:r>
            <a:r>
              <a:rPr lang="en-US" dirty="0">
                <a:hlinkClick r:id="rId2"/>
              </a:rPr>
              <a:t>https://runestone.academy/ns/books/published//thinkcspy/Debugging/KnowyourerrorMessages.html </a:t>
            </a:r>
            <a:br>
              <a:rPr lang="en-US" dirty="0"/>
            </a:br>
            <a:br>
              <a:rPr lang="en-US" dirty="0"/>
            </a:br>
            <a:endParaRPr lang="en-US" dirty="0"/>
          </a:p>
        </p:txBody>
      </p:sp>
    </p:spTree>
    <p:extLst>
      <p:ext uri="{BB962C8B-B14F-4D97-AF65-F5344CB8AC3E}">
        <p14:creationId xmlns:p14="http://schemas.microsoft.com/office/powerpoint/2010/main" val="279238714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1DCEB6-7239-4F94-A780-B2EFCA1B73D9}">
  <ds:schemaRefs>
    <ds:schemaRef ds:uri="http://schemas.microsoft.com/sharepoint/v3/contenttype/forms"/>
  </ds:schemaRefs>
</ds:datastoreItem>
</file>

<file path=customXml/itemProps2.xml><?xml version="1.0" encoding="utf-8"?>
<ds:datastoreItem xmlns:ds="http://schemas.openxmlformats.org/officeDocument/2006/customXml" ds:itemID="{45C17B68-2A08-437F-9A8C-DA61D1C08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A57B1E-7B5F-4DEF-909C-0F1E7DA4F385}">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2740</Words>
  <Application>Microsoft Macintosh PowerPoint</Application>
  <PresentationFormat>Widescreen</PresentationFormat>
  <Paragraphs>405</Paragraphs>
  <Slides>59</Slides>
  <Notes>30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59</vt:i4>
      </vt:variant>
    </vt:vector>
  </HeadingPairs>
  <TitlesOfParts>
    <vt:vector size="69" baseType="lpstr">
      <vt:lpstr>Arial</vt:lpstr>
      <vt:lpstr>Calibri</vt:lpstr>
      <vt:lpstr>Consolas</vt:lpstr>
      <vt:lpstr>Courier New</vt:lpstr>
      <vt:lpstr>Segoe UI</vt:lpstr>
      <vt:lpstr>Segoe UI Semibold</vt:lpstr>
      <vt:lpstr>Source Sans Pro</vt:lpstr>
      <vt:lpstr>Wingdings</vt:lpstr>
      <vt:lpstr>Microsoft Philanthropies TEALS</vt:lpstr>
      <vt:lpstr>Black Template</vt:lpstr>
      <vt:lpstr>Lesson: 1.01 Setup</vt:lpstr>
      <vt:lpstr>Setup</vt:lpstr>
      <vt:lpstr>Today’s plan </vt:lpstr>
      <vt:lpstr>Do now</vt:lpstr>
      <vt:lpstr>Syllabus</vt:lpstr>
      <vt:lpstr>Overview of this course</vt:lpstr>
      <vt:lpstr>Lab Projects</vt:lpstr>
      <vt:lpstr>What is Python?</vt:lpstr>
      <vt:lpstr>Jupyter Notebooks</vt:lpstr>
      <vt:lpstr>Hello world</vt:lpstr>
      <vt:lpstr>Rename the Jupyter Notebook</vt:lpstr>
      <vt:lpstr>Click Share</vt:lpstr>
      <vt:lpstr>Click Share with Grand Coulee Dam School District</vt:lpstr>
      <vt:lpstr>Copy link to share in Google Classroom</vt:lpstr>
      <vt:lpstr>Lesson: 1.02 Interactive Mode</vt:lpstr>
      <vt:lpstr>Interactive Mode</vt:lpstr>
      <vt:lpstr>Today’s Plan</vt:lpstr>
      <vt:lpstr>Do Now</vt:lpstr>
      <vt:lpstr>Using Colab Notebooks</vt:lpstr>
      <vt:lpstr>Key Terms – Write in your Notebook</vt:lpstr>
      <vt:lpstr>Lab 1.03 – Section 1 Discussion</vt:lpstr>
      <vt:lpstr>Lab 1.03 – Section 2 Discussion</vt:lpstr>
      <vt:lpstr>Lab 1.03 – Section 3 Discussion</vt:lpstr>
      <vt:lpstr>Lab 1.03 – Section 4 Discussion</vt:lpstr>
      <vt:lpstr>Lab Part 2</vt:lpstr>
      <vt:lpstr>Lesson 1.03: Script Mode and Variables</vt:lpstr>
      <vt:lpstr>Script Mode and Variables</vt:lpstr>
      <vt:lpstr>Plan</vt:lpstr>
      <vt:lpstr>Do Now</vt:lpstr>
      <vt:lpstr>Print Statement </vt:lpstr>
      <vt:lpstr>Variables</vt:lpstr>
      <vt:lpstr>Variable Names</vt:lpstr>
      <vt:lpstr>Illegal Variable Names</vt:lpstr>
      <vt:lpstr>Variables Exercise – Lab Assignment Sections 1 and 2</vt:lpstr>
      <vt:lpstr>Lab Part 3 - The Four Fours challenge</vt:lpstr>
      <vt:lpstr>Lab Part 3</vt:lpstr>
      <vt:lpstr>Bonus</vt:lpstr>
      <vt:lpstr>Lesson: 1.04 Variable input</vt:lpstr>
      <vt:lpstr>Variable Input</vt:lpstr>
      <vt:lpstr>Plan</vt:lpstr>
      <vt:lpstr>Do now</vt:lpstr>
      <vt:lpstr>Discussion - What does the code do?</vt:lpstr>
      <vt:lpstr>Code comment </vt:lpstr>
      <vt:lpstr>Input statement </vt:lpstr>
      <vt:lpstr>Input statement - string </vt:lpstr>
      <vt:lpstr>Input statement - error </vt:lpstr>
      <vt:lpstr>Input statement – int() </vt:lpstr>
      <vt:lpstr>Lab – magic genie</vt:lpstr>
      <vt:lpstr>Project specifications</vt:lpstr>
      <vt:lpstr>Genie Confusion</vt:lpstr>
      <vt:lpstr>Hint</vt:lpstr>
      <vt:lpstr>Snap! Flashback</vt:lpstr>
      <vt:lpstr>Lesson 1.05: Quiz &amp; Debugging</vt:lpstr>
      <vt:lpstr>Quiz &amp; Debugging</vt:lpstr>
      <vt:lpstr>Plan</vt:lpstr>
      <vt:lpstr>Welcome and Review</vt:lpstr>
      <vt:lpstr>Quiz</vt:lpstr>
      <vt:lpstr>Debugging Activity</vt:lpstr>
      <vt:lpstr>Demonstration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2019-12-07T18:44:30Z</dcterms:created>
  <dcterms:modified xsi:type="dcterms:W3CDTF">2022-02-24T17:20:56Z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y fmtid="{D5CDD505-2E9C-101B-9397-08002B2CF9AE}" pid="3" name="ArticulateGUID">
    <vt:lpwstr>6D024070-C18D-4BAA-AD26-ADF5C0EF6E3D</vt:lpwstr>
  </property>
  <property fmtid="{D5CDD505-2E9C-101B-9397-08002B2CF9AE}" pid="4" name="ArticulatePath">
    <vt:lpwstr>Intro Python 1.01 TEALS</vt:lpwstr>
  </property>
</Properties>
</file>
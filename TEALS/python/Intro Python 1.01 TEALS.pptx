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21"/>
  </p:notesMasterIdLst>
  <p:sldIdLst>
    <p:sldId id="1661" r:id="rId6"/>
    <p:sldId id="256" r:id="rId7"/>
    <p:sldId id="258" r:id="rId8"/>
    <p:sldId id="259" r:id="rId9"/>
    <p:sldId id="1670" r:id="rId10"/>
    <p:sldId id="1681" r:id="rId11"/>
    <p:sldId id="1682" r:id="rId12"/>
    <p:sldId id="1684" r:id="rId13"/>
    <p:sldId id="1685" r:id="rId14"/>
    <p:sldId id="1689" r:id="rId15"/>
    <p:sldId id="1690" r:id="rId16"/>
    <p:sldId id="1691" r:id="rId17"/>
    <p:sldId id="1692" r:id="rId18"/>
    <p:sldId id="1693" r:id="rId19"/>
    <p:sldId id="1678" r:id="rId20"/>
  </p:sldIdLst>
  <p:sldSz cx="12192000" cy="6858000"/>
  <p:notesSz cx="6858000" cy="9144000"/>
  <p:custDataLst>
    <p:tags r:id="rId22"/>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3"/>
    <p:restoredTop sz="96327" autoAdjust="0"/>
  </p:normalViewPr>
  <p:slideViewPr>
    <p:cSldViewPr snapToGrid="0">
      <p:cViewPr>
        <p:scale>
          <a:sx n="107" d="100"/>
          <a:sy n="107" d="100"/>
        </p:scale>
        <p:origin x="144"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gs" Target="tags/tag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C61DAB-D93E-49CA-B245-379601CFE8D0}" type="datetime8">
              <a:rPr lang="en-US" smtClean="0"/>
              <a:t>1/2/22 10:39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442526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3-4 minutes to follow the instructions on the Do Now page.</a:t>
            </a:r>
          </a:p>
          <a:p>
            <a:r>
              <a:rPr lang="en-US" dirty="0"/>
              <a:t>Debrief the answers to the questions on the Do Now by calling on students to respond.</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4</a:t>
            </a:fld>
            <a:endParaRPr lang="en-US"/>
          </a:p>
        </p:txBody>
      </p:sp>
    </p:spTree>
    <p:extLst>
      <p:ext uri="{BB962C8B-B14F-4D97-AF65-F5344CB8AC3E}">
        <p14:creationId xmlns:p14="http://schemas.microsoft.com/office/powerpoint/2010/main" val="525226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creating a block in Snap! </a:t>
            </a:r>
          </a:p>
        </p:txBody>
      </p:sp>
      <p:sp>
        <p:nvSpPr>
          <p:cNvPr id="4" name="Slide Number Placeholder 3"/>
          <p:cNvSpPr>
            <a:spLocks noGrp="1"/>
          </p:cNvSpPr>
          <p:nvPr>
            <p:ph type="sldNum" sz="quarter" idx="5"/>
          </p:nvPr>
        </p:nvSpPr>
        <p:spPr/>
        <p:txBody>
          <a:bodyPr/>
          <a:lstStyle/>
          <a:p>
            <a:fld id="{8402DE32-493B-4797-AE32-069E4744FC89}" type="slidenum">
              <a:rPr lang="en-US" smtClean="0"/>
              <a:t>5</a:t>
            </a:fld>
            <a:endParaRPr lang="en-US"/>
          </a:p>
        </p:txBody>
      </p:sp>
    </p:spTree>
    <p:extLst>
      <p:ext uri="{BB962C8B-B14F-4D97-AF65-F5344CB8AC3E}">
        <p14:creationId xmlns:p14="http://schemas.microsoft.com/office/powerpoint/2010/main" val="2306509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Feel free to edit this slide based on the guidance from the curriculum map and the goals for this course. </a:t>
            </a:r>
          </a:p>
          <a:p>
            <a:endParaRPr lang="en-US" dirty="0"/>
          </a:p>
        </p:txBody>
      </p:sp>
      <p:sp>
        <p:nvSpPr>
          <p:cNvPr id="4" name="Slide Number Placeholder 3"/>
          <p:cNvSpPr>
            <a:spLocks noGrp="1"/>
          </p:cNvSpPr>
          <p:nvPr>
            <p:ph type="sldNum" sz="quarter" idx="5"/>
          </p:nvPr>
        </p:nvSpPr>
        <p:spPr/>
        <p:txBody>
          <a:bodyPr/>
          <a:lstStyle/>
          <a:p>
            <a:fld id="{8402DE32-493B-4797-AE32-069E4744FC89}" type="slidenum">
              <a:rPr lang="en-US" smtClean="0"/>
              <a:t>6</a:t>
            </a:fld>
            <a:endParaRPr lang="en-US"/>
          </a:p>
        </p:txBody>
      </p:sp>
    </p:spTree>
    <p:extLst>
      <p:ext uri="{BB962C8B-B14F-4D97-AF65-F5344CB8AC3E}">
        <p14:creationId xmlns:p14="http://schemas.microsoft.com/office/powerpoint/2010/main" val="2020088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Feel free to edit this slide based on the guidance from the curriculum map and the goals for this course. </a:t>
            </a:r>
          </a:p>
        </p:txBody>
      </p:sp>
      <p:sp>
        <p:nvSpPr>
          <p:cNvPr id="4" name="Slide Number Placeholder 3"/>
          <p:cNvSpPr>
            <a:spLocks noGrp="1"/>
          </p:cNvSpPr>
          <p:nvPr>
            <p:ph type="sldNum" sz="quarter" idx="5"/>
          </p:nvPr>
        </p:nvSpPr>
        <p:spPr/>
        <p:txBody>
          <a:bodyPr/>
          <a:lstStyle/>
          <a:p>
            <a:fld id="{8402DE32-493B-4797-AE32-069E4744FC89}" type="slidenum">
              <a:rPr lang="en-US" smtClean="0"/>
              <a:t>7</a:t>
            </a:fld>
            <a:endParaRPr lang="en-US"/>
          </a:p>
        </p:txBody>
      </p:sp>
    </p:spTree>
    <p:extLst>
      <p:ext uri="{BB962C8B-B14F-4D97-AF65-F5344CB8AC3E}">
        <p14:creationId xmlns:p14="http://schemas.microsoft.com/office/powerpoint/2010/main" val="38125023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1/2/22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1/2/22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image" Target="../media/image1.emf"/><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heme" Target="../theme/theme2.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xml"/><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5.xml"/><Relationship Id="rId5" Type="http://schemas.openxmlformats.org/officeDocument/2006/relationships/image" Target="../media/image21.png"/><Relationship Id="rId4" Type="http://schemas.openxmlformats.org/officeDocument/2006/relationships/hyperlink" Target="https://colab.research.google.com/"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7.xml"/><Relationship Id="rId1" Type="http://schemas.openxmlformats.org/officeDocument/2006/relationships/tags" Target="../tags/tag9.xml"/><Relationship Id="rId5" Type="http://schemas.openxmlformats.org/officeDocument/2006/relationships/image" Target="../media/image24.jpeg"/><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4B47"/>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584200" y="2979778"/>
            <a:ext cx="9144000" cy="553998"/>
          </a:xfrm>
        </p:spPr>
        <p:txBody>
          <a:bodyPr/>
          <a:lstStyle/>
          <a:p>
            <a:r>
              <a:rPr lang="en-US" dirty="0">
                <a:cs typeface="Segoe UI"/>
              </a:rPr>
              <a:t>Lesson: 1.01 Setup</a:t>
            </a:r>
            <a:endParaRPr lang="en-US" dirty="0"/>
          </a:p>
        </p:txBody>
      </p:sp>
      <p:sp>
        <p:nvSpPr>
          <p:cNvPr id="5" name="Text Placeholder 4"/>
          <p:cNvSpPr>
            <a:spLocks noGrp="1"/>
          </p:cNvSpPr>
          <p:nvPr>
            <p:ph type="body" sz="quarter" idx="12"/>
          </p:nvPr>
        </p:nvSpPr>
        <p:spPr>
          <a:xfrm>
            <a:off x="584200" y="3962400"/>
            <a:ext cx="9144000" cy="677108"/>
          </a:xfrm>
        </p:spPr>
        <p:txBody>
          <a:bodyPr vert="horz" wrap="square" lIns="0" tIns="0" rIns="0" bIns="0" rtlCol="0" anchor="t">
            <a:spAutoFit/>
          </a:bodyPr>
          <a:lstStyle/>
          <a:p>
            <a:r>
              <a:rPr lang="en-US" dirty="0">
                <a:cs typeface="Segoe UI"/>
              </a:rPr>
              <a:t>Microsoft Philanthropies TEALS Program</a:t>
            </a:r>
          </a:p>
          <a:p>
            <a:r>
              <a:rPr lang="en-US" dirty="0">
                <a:cs typeface="Segoe UI"/>
              </a:rPr>
              <a:t>Introduction to computer science</a:t>
            </a:r>
          </a:p>
        </p:txBody>
      </p:sp>
      <p:pic>
        <p:nvPicPr>
          <p:cNvPr id="7" name="Picture 6"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4"/>
          <a:stretch>
            <a:fillRect/>
          </a:stretch>
        </p:blipFill>
        <p:spPr>
          <a:xfrm>
            <a:off x="9002536" y="6372049"/>
            <a:ext cx="3105150" cy="390525"/>
          </a:xfrm>
          <a:prstGeom prst="rect">
            <a:avLst/>
          </a:prstGeom>
        </p:spPr>
      </p:pic>
    </p:spTree>
    <p:custDataLst>
      <p:tags r:id="rId1"/>
    </p:custDataLst>
    <p:extLst>
      <p:ext uri="{BB962C8B-B14F-4D97-AF65-F5344CB8AC3E}">
        <p14:creationId xmlns:p14="http://schemas.microsoft.com/office/powerpoint/2010/main" val="179507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C87BAD-7C0C-4CCE-A8E1-1CA98374BE5F}"/>
              </a:ext>
            </a:extLst>
          </p:cNvPr>
          <p:cNvSpPr>
            <a:spLocks noGrp="1"/>
          </p:cNvSpPr>
          <p:nvPr>
            <p:ph type="title"/>
          </p:nvPr>
        </p:nvSpPr>
        <p:spPr/>
        <p:txBody>
          <a:bodyPr/>
          <a:lstStyle/>
          <a:p>
            <a:r>
              <a:rPr lang="en-US" dirty="0">
                <a:cs typeface="Segoe UI"/>
              </a:rPr>
              <a:t>Setup</a:t>
            </a:r>
            <a:endParaRPr lang="en-US" dirty="0"/>
          </a:p>
        </p:txBody>
      </p:sp>
      <p:sp>
        <p:nvSpPr>
          <p:cNvPr id="5" name="Text Placeholder 4">
            <a:extLst>
              <a:ext uri="{FF2B5EF4-FFF2-40B4-BE49-F238E27FC236}">
                <a16:creationId xmlns:a16="http://schemas.microsoft.com/office/drawing/2014/main" id="{CF38BE80-8D98-4541-ACA0-74922D879A6A}"/>
              </a:ext>
            </a:extLst>
          </p:cNvPr>
          <p:cNvSpPr>
            <a:spLocks noGrp="1"/>
          </p:cNvSpPr>
          <p:nvPr>
            <p:ph sz="quarter" idx="10"/>
          </p:nvPr>
        </p:nvSpPr>
        <p:spPr>
          <a:xfrm>
            <a:off x="584200" y="1435100"/>
            <a:ext cx="11120120" cy="1982081"/>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a:t>
            </a:r>
            <a:r>
              <a:rPr lang="en-US" b="1" dirty="0"/>
              <a:t> Python </a:t>
            </a:r>
            <a:r>
              <a:rPr lang="en-US" dirty="0"/>
              <a:t>and</a:t>
            </a:r>
            <a:r>
              <a:rPr lang="en-US" b="1" dirty="0"/>
              <a:t> </a:t>
            </a:r>
            <a:r>
              <a:rPr lang="en-US" b="1" dirty="0" err="1"/>
              <a:t>Jupyter</a:t>
            </a:r>
            <a:r>
              <a:rPr lang="en-US" b="1" dirty="0"/>
              <a:t> Notebooks</a:t>
            </a:r>
          </a:p>
          <a:p>
            <a:pPr marL="342900" indent="-342900">
              <a:buFont typeface="Arial" panose="020B0604020202020204" pitchFamily="34" charset="0"/>
              <a:buChar char="•"/>
            </a:pPr>
            <a:r>
              <a:rPr lang="en-US" dirty="0"/>
              <a:t>Identify the key concepts that will be covered in the course</a:t>
            </a:r>
          </a:p>
          <a:p>
            <a:pPr marL="342900" indent="-342900">
              <a:buFont typeface="Arial" panose="020B0604020202020204" pitchFamily="34" charset="0"/>
              <a:buChar char="•"/>
            </a:pPr>
            <a:r>
              <a:rPr lang="en-US" dirty="0"/>
              <a:t>Create, save and share a </a:t>
            </a:r>
            <a:r>
              <a:rPr lang="en-US" dirty="0" err="1"/>
              <a:t>Jupyter</a:t>
            </a:r>
            <a:r>
              <a:rPr lang="en-US" dirty="0"/>
              <a:t> Notebook in </a:t>
            </a:r>
            <a:r>
              <a:rPr lang="en-US" b="1" dirty="0"/>
              <a:t>Google </a:t>
            </a:r>
            <a:r>
              <a:rPr lang="en-US" b="1" dirty="0" err="1"/>
              <a:t>Colab</a:t>
            </a:r>
            <a:endParaRPr lang="en-US" dirty="0"/>
          </a:p>
        </p:txBody>
      </p:sp>
    </p:spTree>
    <p:custDataLst>
      <p:tags r:id="rId1"/>
    </p:custDataLst>
    <p:extLst>
      <p:ext uri="{BB962C8B-B14F-4D97-AF65-F5344CB8AC3E}">
        <p14:creationId xmlns:p14="http://schemas.microsoft.com/office/powerpoint/2010/main" val="20433309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03145-BA9F-42DF-A164-6FCD022D9DC7}"/>
              </a:ext>
            </a:extLst>
          </p:cNvPr>
          <p:cNvSpPr>
            <a:spLocks noGrp="1"/>
          </p:cNvSpPr>
          <p:nvPr>
            <p:ph type="title"/>
          </p:nvPr>
        </p:nvSpPr>
        <p:spPr>
          <a:xfrm>
            <a:off x="584200" y="2305840"/>
            <a:ext cx="3468956" cy="1107996"/>
          </a:xfrm>
        </p:spPr>
        <p:txBody>
          <a:bodyPr/>
          <a:lstStyle/>
          <a:p>
            <a:r>
              <a:rPr lang="en-US" dirty="0"/>
              <a:t>Today’s plan</a:t>
            </a:r>
            <a:br>
              <a:rPr lang="en-US" dirty="0"/>
            </a:br>
            <a:endParaRPr lang="en-US" dirty="0"/>
          </a:p>
        </p:txBody>
      </p:sp>
      <p:sp>
        <p:nvSpPr>
          <p:cNvPr id="5" name="Text Placeholder 4">
            <a:extLst>
              <a:ext uri="{FF2B5EF4-FFF2-40B4-BE49-F238E27FC236}">
                <a16:creationId xmlns:a16="http://schemas.microsoft.com/office/drawing/2014/main" id="{7646F990-C6FF-4AD8-BC0E-F889E8C0E1F3}"/>
              </a:ext>
            </a:extLst>
          </p:cNvPr>
          <p:cNvSpPr>
            <a:spLocks noGrp="1"/>
          </p:cNvSpPr>
          <p:nvPr>
            <p:ph type="body" sz="quarter" idx="10"/>
          </p:nvPr>
        </p:nvSpPr>
        <p:spPr>
          <a:xfrm>
            <a:off x="4646104" y="2447038"/>
            <a:ext cx="6961188" cy="1563505"/>
          </a:xfrm>
        </p:spPr>
        <p:txBody>
          <a:bodyPr/>
          <a:lstStyle/>
          <a:p>
            <a:r>
              <a:rPr lang="en-US" dirty="0"/>
              <a:t>Do now</a:t>
            </a:r>
          </a:p>
          <a:p>
            <a:r>
              <a:rPr lang="en-US" dirty="0"/>
              <a:t>Syllabus</a:t>
            </a:r>
          </a:p>
          <a:p>
            <a:r>
              <a:rPr lang="en-US" dirty="0"/>
              <a:t>Python and text editor introduction</a:t>
            </a:r>
          </a:p>
        </p:txBody>
      </p:sp>
    </p:spTree>
    <p:custDataLst>
      <p:tags r:id="rId1"/>
    </p:custDataLst>
    <p:extLst>
      <p:ext uri="{BB962C8B-B14F-4D97-AF65-F5344CB8AC3E}">
        <p14:creationId xmlns:p14="http://schemas.microsoft.com/office/powerpoint/2010/main" val="373220500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6973AF-ADB8-4670-8192-D16C970FA0B3}"/>
              </a:ext>
            </a:extLst>
          </p:cNvPr>
          <p:cNvSpPr>
            <a:spLocks noGrp="1"/>
          </p:cNvSpPr>
          <p:nvPr>
            <p:ph type="title"/>
          </p:nvPr>
        </p:nvSpPr>
        <p:spPr>
          <a:xfrm>
            <a:off x="588263" y="457200"/>
            <a:ext cx="11018520" cy="553998"/>
          </a:xfrm>
        </p:spPr>
        <p:txBody>
          <a:bodyPr/>
          <a:lstStyle/>
          <a:p>
            <a:r>
              <a:rPr lang="en-US" dirty="0"/>
              <a:t>Do now</a:t>
            </a:r>
          </a:p>
        </p:txBody>
      </p:sp>
      <p:sp>
        <p:nvSpPr>
          <p:cNvPr id="5" name="Content Placeholder 4">
            <a:extLst>
              <a:ext uri="{FF2B5EF4-FFF2-40B4-BE49-F238E27FC236}">
                <a16:creationId xmlns:a16="http://schemas.microsoft.com/office/drawing/2014/main" id="{AF67AE47-7C9B-493E-B2B7-09A6CF5564D2}"/>
              </a:ext>
            </a:extLst>
          </p:cNvPr>
          <p:cNvSpPr>
            <a:spLocks noGrp="1"/>
          </p:cNvSpPr>
          <p:nvPr>
            <p:ph sz="quarter" idx="10"/>
          </p:nvPr>
        </p:nvSpPr>
        <p:spPr>
          <a:xfrm>
            <a:off x="588263" y="1181549"/>
            <a:ext cx="11018838" cy="276999"/>
          </a:xfrm>
        </p:spPr>
        <p:txBody>
          <a:bodyPr/>
          <a:lstStyle/>
          <a:p>
            <a:pPr marL="0" marR="0" indent="0">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Go to </a:t>
            </a:r>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https://colab.research.google.com/</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choose “New Notebook” at the bottom.</a:t>
            </a:r>
          </a:p>
        </p:txBody>
      </p:sp>
      <p:pic>
        <p:nvPicPr>
          <p:cNvPr id="6" name="Picture 5" descr="Graphical user interface&#10;&#10;Description automatically generated">
            <a:extLst>
              <a:ext uri="{FF2B5EF4-FFF2-40B4-BE49-F238E27FC236}">
                <a16:creationId xmlns:a16="http://schemas.microsoft.com/office/drawing/2014/main" id="{9DD2C947-9207-F14A-8E9F-B5F4DCB3F4FF}"/>
              </a:ext>
            </a:extLst>
          </p:cNvPr>
          <p:cNvPicPr>
            <a:picLocks noChangeAspect="1"/>
          </p:cNvPicPr>
          <p:nvPr/>
        </p:nvPicPr>
        <p:blipFill>
          <a:blip r:embed="rId5"/>
          <a:stretch>
            <a:fillRect/>
          </a:stretch>
        </p:blipFill>
        <p:spPr>
          <a:xfrm>
            <a:off x="911134" y="1640900"/>
            <a:ext cx="9800771" cy="5014519"/>
          </a:xfrm>
          <a:prstGeom prst="rect">
            <a:avLst/>
          </a:prstGeom>
        </p:spPr>
      </p:pic>
      <p:sp>
        <p:nvSpPr>
          <p:cNvPr id="7" name="Rectangle 6">
            <a:extLst>
              <a:ext uri="{FF2B5EF4-FFF2-40B4-BE49-F238E27FC236}">
                <a16:creationId xmlns:a16="http://schemas.microsoft.com/office/drawing/2014/main" id="{5F2708DA-D849-5F4F-8776-A9905E86E3AD}"/>
              </a:ext>
            </a:extLst>
          </p:cNvPr>
          <p:cNvSpPr/>
          <p:nvPr/>
        </p:nvSpPr>
        <p:spPr>
          <a:xfrm>
            <a:off x="7106194" y="5577839"/>
            <a:ext cx="711201" cy="182879"/>
          </a:xfrm>
          <a:prstGeom prst="rect">
            <a:avLst/>
          </a:prstGeom>
          <a:noFill/>
          <a:ln w="539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custDataLst>
      <p:tags r:id="rId1"/>
    </p:custDataLst>
    <p:extLst>
      <p:ext uri="{BB962C8B-B14F-4D97-AF65-F5344CB8AC3E}">
        <p14:creationId xmlns:p14="http://schemas.microsoft.com/office/powerpoint/2010/main" val="34057354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94B6-D3DB-48EA-A315-A0C9F622734F}"/>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F42C2763-9D66-42CF-A524-37B57727F695}"/>
              </a:ext>
            </a:extLst>
          </p:cNvPr>
          <p:cNvSpPr>
            <a:spLocks noGrp="1"/>
          </p:cNvSpPr>
          <p:nvPr>
            <p:ph sz="quarter" idx="10"/>
          </p:nvPr>
        </p:nvSpPr>
        <p:spPr>
          <a:xfrm>
            <a:off x="584200" y="1435100"/>
            <a:ext cx="11018838" cy="2930033"/>
          </a:xfrm>
        </p:spPr>
        <p:txBody>
          <a:bodyPr/>
          <a:lstStyle/>
          <a:p>
            <a:r>
              <a:rPr lang="en-US" dirty="0"/>
              <a:t>Goals for this course</a:t>
            </a:r>
          </a:p>
          <a:p>
            <a:pPr lvl="1"/>
            <a:r>
              <a:rPr lang="en-US" sz="2800" dirty="0"/>
              <a:t>Create functioning Python programs</a:t>
            </a:r>
          </a:p>
          <a:p>
            <a:pPr lvl="1"/>
            <a:r>
              <a:rPr lang="en-US" sz="2800" dirty="0"/>
              <a:t>Learn to use basic data types</a:t>
            </a:r>
          </a:p>
          <a:p>
            <a:pPr lvl="1"/>
            <a:r>
              <a:rPr lang="en-US" sz="2800" dirty="0"/>
              <a:t>Earn to use a text-based language</a:t>
            </a:r>
          </a:p>
          <a:p>
            <a:r>
              <a:rPr lang="en-US" dirty="0"/>
              <a:t>Present demo of a program written in Python to hook students and to give them an idea of what they will be working with</a:t>
            </a:r>
          </a:p>
        </p:txBody>
      </p:sp>
    </p:spTree>
    <p:custDataLst>
      <p:tags r:id="rId1"/>
    </p:custDataLst>
    <p:extLst>
      <p:ext uri="{BB962C8B-B14F-4D97-AF65-F5344CB8AC3E}">
        <p14:creationId xmlns:p14="http://schemas.microsoft.com/office/powerpoint/2010/main" val="133791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9512-E962-4677-863F-5552476C5AE1}"/>
              </a:ext>
            </a:extLst>
          </p:cNvPr>
          <p:cNvSpPr>
            <a:spLocks noGrp="1"/>
          </p:cNvSpPr>
          <p:nvPr>
            <p:ph type="title"/>
          </p:nvPr>
        </p:nvSpPr>
        <p:spPr/>
        <p:txBody>
          <a:bodyPr/>
          <a:lstStyle/>
          <a:p>
            <a:r>
              <a:rPr lang="en-US" dirty="0"/>
              <a:t>Overview of this course</a:t>
            </a:r>
          </a:p>
        </p:txBody>
      </p:sp>
      <p:sp>
        <p:nvSpPr>
          <p:cNvPr id="3" name="Content Placeholder 2">
            <a:extLst>
              <a:ext uri="{FF2B5EF4-FFF2-40B4-BE49-F238E27FC236}">
                <a16:creationId xmlns:a16="http://schemas.microsoft.com/office/drawing/2014/main" id="{7A2E9C2F-508B-4B42-83A0-EE71D08F7B6B}"/>
              </a:ext>
            </a:extLst>
          </p:cNvPr>
          <p:cNvSpPr>
            <a:spLocks noGrp="1"/>
          </p:cNvSpPr>
          <p:nvPr>
            <p:ph sz="quarter" idx="10"/>
          </p:nvPr>
        </p:nvSpPr>
        <p:spPr>
          <a:xfrm>
            <a:off x="584200" y="1435100"/>
            <a:ext cx="11018838" cy="3902607"/>
          </a:xfrm>
        </p:spPr>
        <p:txBody>
          <a:bodyPr/>
          <a:lstStyle/>
          <a:p>
            <a:pPr fontAlgn="base"/>
            <a:r>
              <a:rPr lang="en-US" dirty="0"/>
              <a:t>The major topics covered in this course are as follows:</a:t>
            </a:r>
          </a:p>
          <a:p>
            <a:pPr lvl="1" fontAlgn="base"/>
            <a:r>
              <a:rPr lang="en-US" dirty="0"/>
              <a:t>Variables</a:t>
            </a:r>
          </a:p>
          <a:p>
            <a:pPr lvl="1" fontAlgn="base"/>
            <a:r>
              <a:rPr lang="en-US" dirty="0"/>
              <a:t>Conditionals</a:t>
            </a:r>
          </a:p>
          <a:p>
            <a:pPr lvl="1" fontAlgn="base"/>
            <a:r>
              <a:rPr lang="en-US" dirty="0"/>
              <a:t>Loops</a:t>
            </a:r>
          </a:p>
          <a:p>
            <a:pPr lvl="1" fontAlgn="base"/>
            <a:r>
              <a:rPr lang="en-US" dirty="0"/>
              <a:t>Functions (user-defined and built-in)</a:t>
            </a:r>
          </a:p>
          <a:p>
            <a:pPr lvl="1" fontAlgn="base"/>
            <a:r>
              <a:rPr lang="en-US" dirty="0"/>
              <a:t>Lists</a:t>
            </a:r>
          </a:p>
          <a:p>
            <a:pPr lvl="1" fontAlgn="base"/>
            <a:r>
              <a:rPr lang="en-US" dirty="0"/>
              <a:t>Classes and objects</a:t>
            </a:r>
          </a:p>
          <a:p>
            <a:pPr lvl="1" fontAlgn="base"/>
            <a:r>
              <a:rPr lang="en-US" dirty="0"/>
              <a:t>Dictionaries</a:t>
            </a:r>
          </a:p>
          <a:p>
            <a:pPr lvl="1" fontAlgn="base"/>
            <a:r>
              <a:rPr lang="en-US" dirty="0"/>
              <a:t>Music programming</a:t>
            </a:r>
          </a:p>
          <a:p>
            <a:endParaRPr lang="en-US" dirty="0"/>
          </a:p>
        </p:txBody>
      </p:sp>
    </p:spTree>
    <p:custDataLst>
      <p:tags r:id="rId1"/>
    </p:custDataLst>
    <p:extLst>
      <p:ext uri="{BB962C8B-B14F-4D97-AF65-F5344CB8AC3E}">
        <p14:creationId xmlns:p14="http://schemas.microsoft.com/office/powerpoint/2010/main" val="36875638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BEC17-088E-40E0-BFBE-89BEF8D730CB}"/>
              </a:ext>
            </a:extLst>
          </p:cNvPr>
          <p:cNvSpPr>
            <a:spLocks noGrp="1"/>
          </p:cNvSpPr>
          <p:nvPr>
            <p:ph type="title"/>
          </p:nvPr>
        </p:nvSpPr>
        <p:spPr/>
        <p:txBody>
          <a:bodyPr/>
          <a:lstStyle/>
          <a:p>
            <a:r>
              <a:rPr lang="en-US" dirty="0"/>
              <a:t>Lab Projects</a:t>
            </a:r>
          </a:p>
        </p:txBody>
      </p:sp>
      <p:sp>
        <p:nvSpPr>
          <p:cNvPr id="3" name="Content Placeholder 2">
            <a:extLst>
              <a:ext uri="{FF2B5EF4-FFF2-40B4-BE49-F238E27FC236}">
                <a16:creationId xmlns:a16="http://schemas.microsoft.com/office/drawing/2014/main" id="{934E8D55-9764-4B61-A1DE-0385F9863DE2}"/>
              </a:ext>
            </a:extLst>
          </p:cNvPr>
          <p:cNvSpPr>
            <a:spLocks noGrp="1"/>
          </p:cNvSpPr>
          <p:nvPr>
            <p:ph sz="quarter" idx="10"/>
          </p:nvPr>
        </p:nvSpPr>
        <p:spPr>
          <a:xfrm>
            <a:off x="584200" y="1435100"/>
            <a:ext cx="11018838" cy="4628960"/>
          </a:xfrm>
        </p:spPr>
        <p:txBody>
          <a:bodyPr/>
          <a:lstStyle/>
          <a:p>
            <a:pPr fontAlgn="base"/>
            <a:r>
              <a:rPr lang="en-US" sz="3200" dirty="0"/>
              <a:t>Unit 1: </a:t>
            </a:r>
            <a:r>
              <a:rPr lang="en-US" sz="3200" dirty="0" err="1"/>
              <a:t>MadLibs</a:t>
            </a:r>
            <a:endParaRPr lang="en-US" sz="3200" dirty="0"/>
          </a:p>
          <a:p>
            <a:pPr fontAlgn="base"/>
            <a:r>
              <a:rPr lang="en-US" sz="3200" dirty="0"/>
              <a:t>Unit 2: Text adventure game</a:t>
            </a:r>
          </a:p>
          <a:p>
            <a:pPr fontAlgn="base"/>
            <a:r>
              <a:rPr lang="en-US" sz="3200" dirty="0"/>
              <a:t>Unit 3: Oregon trail game</a:t>
            </a:r>
          </a:p>
          <a:p>
            <a:pPr fontAlgn="base"/>
            <a:r>
              <a:rPr lang="en-US" sz="3200" dirty="0"/>
              <a:t>Unit 4: Tic-Tac-Toe (2 human players)</a:t>
            </a:r>
          </a:p>
          <a:p>
            <a:pPr fontAlgn="base"/>
            <a:r>
              <a:rPr lang="en-US" sz="3200" dirty="0"/>
              <a:t>Unit 5: Music programming in </a:t>
            </a:r>
            <a:r>
              <a:rPr lang="en-US" sz="3200" dirty="0" err="1"/>
              <a:t>EarSketch</a:t>
            </a:r>
            <a:endParaRPr lang="en-US" sz="3200" dirty="0"/>
          </a:p>
          <a:p>
            <a:pPr fontAlgn="base"/>
            <a:r>
              <a:rPr lang="en-US" sz="3200" dirty="0"/>
              <a:t>Unit 6: Guess who? Game</a:t>
            </a:r>
          </a:p>
          <a:p>
            <a:pPr fontAlgn="base"/>
            <a:r>
              <a:rPr lang="en-US" sz="3200" dirty="0"/>
              <a:t>Unit 7: Pokémon</a:t>
            </a:r>
          </a:p>
          <a:p>
            <a:pPr fontAlgn="base"/>
            <a:r>
              <a:rPr lang="en-US" sz="3200" dirty="0"/>
              <a:t>Unit 8: Final project - student created</a:t>
            </a:r>
          </a:p>
        </p:txBody>
      </p:sp>
    </p:spTree>
    <p:custDataLst>
      <p:tags r:id="rId1"/>
    </p:custDataLst>
    <p:extLst>
      <p:ext uri="{BB962C8B-B14F-4D97-AF65-F5344CB8AC3E}">
        <p14:creationId xmlns:p14="http://schemas.microsoft.com/office/powerpoint/2010/main" val="2508777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C1B6-AE35-49C7-BE0C-C5A13EE4FCCD}"/>
              </a:ext>
            </a:extLst>
          </p:cNvPr>
          <p:cNvSpPr>
            <a:spLocks noGrp="1"/>
          </p:cNvSpPr>
          <p:nvPr>
            <p:ph type="title"/>
          </p:nvPr>
        </p:nvSpPr>
        <p:spPr/>
        <p:txBody>
          <a:bodyPr/>
          <a:lstStyle/>
          <a:p>
            <a:r>
              <a:rPr lang="en-US" dirty="0"/>
              <a:t>What is Python?</a:t>
            </a:r>
          </a:p>
        </p:txBody>
      </p:sp>
      <p:sp>
        <p:nvSpPr>
          <p:cNvPr id="3" name="Content Placeholder 2">
            <a:extLst>
              <a:ext uri="{FF2B5EF4-FFF2-40B4-BE49-F238E27FC236}">
                <a16:creationId xmlns:a16="http://schemas.microsoft.com/office/drawing/2014/main" id="{5EE23AB7-F2F4-423F-A5B2-7AFA6CF16FF1}"/>
              </a:ext>
            </a:extLst>
          </p:cNvPr>
          <p:cNvSpPr>
            <a:spLocks noGrp="1"/>
          </p:cNvSpPr>
          <p:nvPr>
            <p:ph sz="quarter" idx="12"/>
          </p:nvPr>
        </p:nvSpPr>
        <p:spPr>
          <a:xfrm>
            <a:off x="584200" y="1435100"/>
            <a:ext cx="5211763" cy="4899803"/>
          </a:xfrm>
        </p:spPr>
        <p:txBody>
          <a:bodyPr/>
          <a:lstStyle/>
          <a:p>
            <a:pPr fontAlgn="base"/>
            <a:r>
              <a:rPr lang="en-US" sz="2400" b="1" dirty="0"/>
              <a:t>Python</a:t>
            </a:r>
            <a:r>
              <a:rPr lang="en-US" sz="2400" dirty="0"/>
              <a:t> is a text-based programming language.</a:t>
            </a:r>
          </a:p>
          <a:p>
            <a:pPr fontAlgn="base"/>
            <a:r>
              <a:rPr lang="en-US" sz="2400" dirty="0"/>
              <a:t>First released 1991. </a:t>
            </a:r>
            <a:r>
              <a:rPr lang="en-US" sz="2400" b="1" dirty="0"/>
              <a:t>Python3</a:t>
            </a:r>
            <a:r>
              <a:rPr lang="en-US" sz="2400" dirty="0"/>
              <a:t> released 2008.</a:t>
            </a:r>
          </a:p>
          <a:p>
            <a:pPr fontAlgn="base"/>
            <a:r>
              <a:rPr lang="en-US" sz="2400" dirty="0"/>
              <a:t>Widely used in industry and academia.</a:t>
            </a:r>
          </a:p>
          <a:p>
            <a:pPr lvl="1" fontAlgn="base"/>
            <a:r>
              <a:rPr lang="en-US" sz="1800" dirty="0"/>
              <a:t>100,000,000+ lines of Python at Google, Inc.</a:t>
            </a:r>
          </a:p>
          <a:p>
            <a:pPr fontAlgn="base"/>
            <a:r>
              <a:rPr lang="en-US" sz="2400" dirty="0"/>
              <a:t>Invented by Guido van Rossum in the Netherlands.</a:t>
            </a:r>
          </a:p>
          <a:p>
            <a:pPr fontAlgn="base"/>
            <a:r>
              <a:rPr lang="en-US" sz="2400" dirty="0"/>
              <a:t>Known for its readability.</a:t>
            </a:r>
          </a:p>
          <a:p>
            <a:r>
              <a:rPr lang="en-US" sz="2400" dirty="0"/>
              <a:t>Named after BBC TV show </a:t>
            </a:r>
            <a:r>
              <a:rPr lang="en-US" sz="2400" i="1" dirty="0"/>
              <a:t>Monty Python's Flying Circus</a:t>
            </a:r>
            <a:r>
              <a:rPr lang="en-US" sz="2400" dirty="0"/>
              <a:t>.</a:t>
            </a:r>
          </a:p>
        </p:txBody>
      </p:sp>
      <p:pic>
        <p:nvPicPr>
          <p:cNvPr id="3074" name="Picture 2" descr="Python Logo">
            <a:extLst>
              <a:ext uri="{FF2B5EF4-FFF2-40B4-BE49-F238E27FC236}">
                <a16:creationId xmlns:a16="http://schemas.microsoft.com/office/drawing/2014/main" id="{D274FA38-6083-48EA-9FD2-58A6C74B6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6549" y="311130"/>
            <a:ext cx="846138" cy="84613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n Image of the characters from Monty Python Flying Circus">
            <a:extLst>
              <a:ext uri="{FF2B5EF4-FFF2-40B4-BE49-F238E27FC236}">
                <a16:creationId xmlns:a16="http://schemas.microsoft.com/office/drawing/2014/main" id="{05E46E80-A6A7-4FC3-A469-35068FBB6E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7145" y="3691468"/>
            <a:ext cx="4816592" cy="270933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Picture of Guido Can Rossum the creator of Python">
            <a:extLst>
              <a:ext uri="{FF2B5EF4-FFF2-40B4-BE49-F238E27FC236}">
                <a16:creationId xmlns:a16="http://schemas.microsoft.com/office/drawing/2014/main" id="{A79263D5-E07E-46D7-BF60-D0425BBEC7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7145" y="457200"/>
            <a:ext cx="4816592" cy="270933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3586575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C34946-F161-4351-82BC-373FD1DDF854}"/>
              </a:ext>
            </a:extLst>
          </p:cNvPr>
          <p:cNvSpPr>
            <a:spLocks noGrp="1"/>
          </p:cNvSpPr>
          <p:nvPr>
            <p:ph type="title"/>
          </p:nvPr>
        </p:nvSpPr>
        <p:spPr/>
        <p:txBody>
          <a:bodyPr/>
          <a:lstStyle/>
          <a:p>
            <a:r>
              <a:rPr lang="en-US" dirty="0" err="1"/>
              <a:t>Jupyter</a:t>
            </a:r>
            <a:r>
              <a:rPr lang="en-US" dirty="0"/>
              <a:t> Notebooks</a:t>
            </a:r>
          </a:p>
        </p:txBody>
      </p:sp>
      <p:sp>
        <p:nvSpPr>
          <p:cNvPr id="6" name="Content Placeholder 5">
            <a:extLst>
              <a:ext uri="{FF2B5EF4-FFF2-40B4-BE49-F238E27FC236}">
                <a16:creationId xmlns:a16="http://schemas.microsoft.com/office/drawing/2014/main" id="{63B1962E-829D-4FEA-9F52-9F1394635B2D}"/>
              </a:ext>
            </a:extLst>
          </p:cNvPr>
          <p:cNvSpPr>
            <a:spLocks noGrp="1"/>
          </p:cNvSpPr>
          <p:nvPr>
            <p:ph sz="quarter" idx="10"/>
          </p:nvPr>
        </p:nvSpPr>
        <p:spPr>
          <a:xfrm>
            <a:off x="584200" y="1435100"/>
            <a:ext cx="11018838" cy="812530"/>
          </a:xfrm>
        </p:spPr>
        <p:txBody>
          <a:bodyPr/>
          <a:lstStyle/>
          <a:p>
            <a:r>
              <a:rPr lang="en-US" sz="2400" dirty="0"/>
              <a:t>The </a:t>
            </a:r>
            <a:r>
              <a:rPr lang="en-US" sz="2400" dirty="0" err="1"/>
              <a:t>Jupyter</a:t>
            </a:r>
            <a:r>
              <a:rPr lang="en-US" sz="2400" dirty="0"/>
              <a:t> Notebook is a web-based programming environment. </a:t>
            </a:r>
          </a:p>
          <a:p>
            <a:r>
              <a:rPr lang="en-US" sz="2400" dirty="0"/>
              <a:t>It combines live code, equations, narrative text, visualizations, etc.</a:t>
            </a:r>
          </a:p>
        </p:txBody>
      </p:sp>
      <p:pic>
        <p:nvPicPr>
          <p:cNvPr id="2" name="Picture 1">
            <a:extLst>
              <a:ext uri="{FF2B5EF4-FFF2-40B4-BE49-F238E27FC236}">
                <a16:creationId xmlns:a16="http://schemas.microsoft.com/office/drawing/2014/main" id="{AA30F757-20A9-1640-AB61-E0B3B3ACB003}"/>
              </a:ext>
            </a:extLst>
          </p:cNvPr>
          <p:cNvPicPr>
            <a:picLocks noChangeAspect="1"/>
          </p:cNvPicPr>
          <p:nvPr/>
        </p:nvPicPr>
        <p:blipFill>
          <a:blip r:embed="rId3"/>
          <a:stretch>
            <a:fillRect/>
          </a:stretch>
        </p:blipFill>
        <p:spPr>
          <a:xfrm>
            <a:off x="1658983" y="2394385"/>
            <a:ext cx="6676588" cy="4431972"/>
          </a:xfrm>
          <a:prstGeom prst="rect">
            <a:avLst/>
          </a:prstGeom>
        </p:spPr>
      </p:pic>
    </p:spTree>
    <p:custDataLst>
      <p:tags r:id="rId1"/>
    </p:custDataLst>
    <p:extLst>
      <p:ext uri="{BB962C8B-B14F-4D97-AF65-F5344CB8AC3E}">
        <p14:creationId xmlns:p14="http://schemas.microsoft.com/office/powerpoint/2010/main" val="21008299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BECF-9334-4866-BD1E-8AD1A0D145C8}"/>
              </a:ext>
            </a:extLst>
          </p:cNvPr>
          <p:cNvSpPr>
            <a:spLocks noGrp="1"/>
          </p:cNvSpPr>
          <p:nvPr>
            <p:ph type="title"/>
          </p:nvPr>
        </p:nvSpPr>
        <p:spPr/>
        <p:txBody>
          <a:bodyPr/>
          <a:lstStyle/>
          <a:p>
            <a:r>
              <a:rPr lang="en-US" dirty="0"/>
              <a:t>Hello world</a:t>
            </a:r>
          </a:p>
        </p:txBody>
      </p:sp>
      <p:sp>
        <p:nvSpPr>
          <p:cNvPr id="3" name="Content Placeholder 2">
            <a:extLst>
              <a:ext uri="{FF2B5EF4-FFF2-40B4-BE49-F238E27FC236}">
                <a16:creationId xmlns:a16="http://schemas.microsoft.com/office/drawing/2014/main" id="{713CD510-1542-451C-9488-9E399C38194D}"/>
              </a:ext>
            </a:extLst>
          </p:cNvPr>
          <p:cNvSpPr>
            <a:spLocks noGrp="1"/>
          </p:cNvSpPr>
          <p:nvPr>
            <p:ph sz="quarter" idx="10"/>
          </p:nvPr>
        </p:nvSpPr>
        <p:spPr>
          <a:xfrm>
            <a:off x="584200" y="1435100"/>
            <a:ext cx="11018838" cy="3016210"/>
          </a:xfrm>
        </p:spPr>
        <p:txBody>
          <a:bodyPr/>
          <a:lstStyle/>
          <a:p>
            <a:pPr marL="0" indent="0">
              <a:buNone/>
            </a:pPr>
            <a:r>
              <a:rPr lang="en-US" dirty="0"/>
              <a:t>Write the following code cell to print “Hello World”</a:t>
            </a:r>
          </a:p>
          <a:p>
            <a:pPr fontAlgn="base"/>
            <a:r>
              <a:rPr lang="en-US" dirty="0"/>
              <a:t>Quotation marks matter</a:t>
            </a:r>
          </a:p>
          <a:p>
            <a:pPr fontAlgn="base"/>
            <a:r>
              <a:rPr lang="en-US" dirty="0"/>
              <a:t>Parentheses matter</a:t>
            </a:r>
          </a:p>
          <a:p>
            <a:pPr fontAlgn="base"/>
            <a:r>
              <a:rPr lang="en-US" dirty="0"/>
              <a:t>Text coloring happens automatically</a:t>
            </a:r>
          </a:p>
          <a:p>
            <a:pPr fontAlgn="base"/>
            <a:r>
              <a:rPr lang="en-US" dirty="0"/>
              <a:t>Use shift-enter or hit the play button to execute</a:t>
            </a:r>
          </a:p>
          <a:p>
            <a:pPr marL="0" indent="0">
              <a:buNone/>
            </a:pPr>
            <a:endParaRPr lang="en-US" dirty="0"/>
          </a:p>
        </p:txBody>
      </p:sp>
      <p:pic>
        <p:nvPicPr>
          <p:cNvPr id="4" name="Picture 3">
            <a:extLst>
              <a:ext uri="{FF2B5EF4-FFF2-40B4-BE49-F238E27FC236}">
                <a16:creationId xmlns:a16="http://schemas.microsoft.com/office/drawing/2014/main" id="{156779D8-52BC-0B4B-AF2C-31107DD65A42}"/>
              </a:ext>
            </a:extLst>
          </p:cNvPr>
          <p:cNvPicPr>
            <a:picLocks noChangeAspect="1"/>
          </p:cNvPicPr>
          <p:nvPr/>
        </p:nvPicPr>
        <p:blipFill>
          <a:blip r:embed="rId3"/>
          <a:stretch>
            <a:fillRect/>
          </a:stretch>
        </p:blipFill>
        <p:spPr>
          <a:xfrm>
            <a:off x="1321344" y="4493875"/>
            <a:ext cx="8429679" cy="1858050"/>
          </a:xfrm>
          <a:prstGeom prst="rect">
            <a:avLst/>
          </a:prstGeom>
        </p:spPr>
      </p:pic>
    </p:spTree>
    <p:custDataLst>
      <p:tags r:id="rId1"/>
    </p:custDataLst>
    <p:extLst>
      <p:ext uri="{BB962C8B-B14F-4D97-AF65-F5344CB8AC3E}">
        <p14:creationId xmlns:p14="http://schemas.microsoft.com/office/powerpoint/2010/main" val="400168662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BECF-9334-4866-BD1E-8AD1A0D145C8}"/>
              </a:ext>
            </a:extLst>
          </p:cNvPr>
          <p:cNvSpPr>
            <a:spLocks noGrp="1"/>
          </p:cNvSpPr>
          <p:nvPr>
            <p:ph type="title"/>
          </p:nvPr>
        </p:nvSpPr>
        <p:spPr/>
        <p:txBody>
          <a:bodyPr/>
          <a:lstStyle/>
          <a:p>
            <a:r>
              <a:rPr lang="en-US" dirty="0"/>
              <a:t>Rename the </a:t>
            </a:r>
            <a:r>
              <a:rPr lang="en-US" dirty="0" err="1"/>
              <a:t>Jupyter</a:t>
            </a:r>
            <a:r>
              <a:rPr lang="en-US" dirty="0"/>
              <a:t> Notebook</a:t>
            </a:r>
          </a:p>
        </p:txBody>
      </p:sp>
      <p:pic>
        <p:nvPicPr>
          <p:cNvPr id="7" name="Picture 6">
            <a:extLst>
              <a:ext uri="{FF2B5EF4-FFF2-40B4-BE49-F238E27FC236}">
                <a16:creationId xmlns:a16="http://schemas.microsoft.com/office/drawing/2014/main" id="{BFA4684C-E0A7-B346-8135-914743E5232E}"/>
              </a:ext>
            </a:extLst>
          </p:cNvPr>
          <p:cNvPicPr>
            <a:picLocks noChangeAspect="1"/>
          </p:cNvPicPr>
          <p:nvPr/>
        </p:nvPicPr>
        <p:blipFill>
          <a:blip r:embed="rId3"/>
          <a:stretch>
            <a:fillRect/>
          </a:stretch>
        </p:blipFill>
        <p:spPr>
          <a:xfrm>
            <a:off x="313508" y="1011198"/>
            <a:ext cx="10663646" cy="5580296"/>
          </a:xfrm>
          <a:prstGeom prst="rect">
            <a:avLst/>
          </a:prstGeom>
        </p:spPr>
      </p:pic>
    </p:spTree>
    <p:custDataLst>
      <p:tags r:id="rId1"/>
    </p:custDataLst>
    <p:extLst>
      <p:ext uri="{BB962C8B-B14F-4D97-AF65-F5344CB8AC3E}">
        <p14:creationId xmlns:p14="http://schemas.microsoft.com/office/powerpoint/2010/main" val="24077756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Click Share</a:t>
            </a:r>
          </a:p>
        </p:txBody>
      </p:sp>
      <p:pic>
        <p:nvPicPr>
          <p:cNvPr id="4" name="Picture 3">
            <a:extLst>
              <a:ext uri="{FF2B5EF4-FFF2-40B4-BE49-F238E27FC236}">
                <a16:creationId xmlns:a16="http://schemas.microsoft.com/office/drawing/2014/main" id="{DBD9451C-2DC8-AC4F-8280-E89A34672A61}"/>
              </a:ext>
            </a:extLst>
          </p:cNvPr>
          <p:cNvPicPr>
            <a:picLocks noChangeAspect="1"/>
          </p:cNvPicPr>
          <p:nvPr/>
        </p:nvPicPr>
        <p:blipFill>
          <a:blip r:embed="rId2"/>
          <a:stretch>
            <a:fillRect/>
          </a:stretch>
        </p:blipFill>
        <p:spPr>
          <a:xfrm>
            <a:off x="666205" y="1174574"/>
            <a:ext cx="10859589" cy="5683426"/>
          </a:xfrm>
          <a:prstGeom prst="rect">
            <a:avLst/>
          </a:prstGeom>
        </p:spPr>
      </p:pic>
    </p:spTree>
    <p:extLst>
      <p:ext uri="{BB962C8B-B14F-4D97-AF65-F5344CB8AC3E}">
        <p14:creationId xmlns:p14="http://schemas.microsoft.com/office/powerpoint/2010/main" val="2062796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Click Share with Grand Coulee Dam School District</a:t>
            </a:r>
          </a:p>
        </p:txBody>
      </p:sp>
      <p:pic>
        <p:nvPicPr>
          <p:cNvPr id="3" name="Picture 2">
            <a:extLst>
              <a:ext uri="{FF2B5EF4-FFF2-40B4-BE49-F238E27FC236}">
                <a16:creationId xmlns:a16="http://schemas.microsoft.com/office/drawing/2014/main" id="{AB479536-0366-D243-90DE-293105973462}"/>
              </a:ext>
            </a:extLst>
          </p:cNvPr>
          <p:cNvPicPr>
            <a:picLocks noChangeAspect="1"/>
          </p:cNvPicPr>
          <p:nvPr/>
        </p:nvPicPr>
        <p:blipFill>
          <a:blip r:embed="rId2"/>
          <a:stretch>
            <a:fillRect/>
          </a:stretch>
        </p:blipFill>
        <p:spPr>
          <a:xfrm>
            <a:off x="1110342" y="1142674"/>
            <a:ext cx="10624457" cy="5486660"/>
          </a:xfrm>
          <a:prstGeom prst="rect">
            <a:avLst/>
          </a:prstGeom>
        </p:spPr>
      </p:pic>
    </p:spTree>
    <p:extLst>
      <p:ext uri="{BB962C8B-B14F-4D97-AF65-F5344CB8AC3E}">
        <p14:creationId xmlns:p14="http://schemas.microsoft.com/office/powerpoint/2010/main" val="726740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0C502-8BD1-B547-A0F1-A24B6BE5A0AB}"/>
              </a:ext>
            </a:extLst>
          </p:cNvPr>
          <p:cNvSpPr>
            <a:spLocks noGrp="1"/>
          </p:cNvSpPr>
          <p:nvPr>
            <p:ph type="title"/>
          </p:nvPr>
        </p:nvSpPr>
        <p:spPr/>
        <p:txBody>
          <a:bodyPr/>
          <a:lstStyle/>
          <a:p>
            <a:r>
              <a:rPr lang="en-US" dirty="0"/>
              <a:t>Copy link to share in Google Classroom</a:t>
            </a:r>
          </a:p>
        </p:txBody>
      </p:sp>
      <p:pic>
        <p:nvPicPr>
          <p:cNvPr id="4" name="Picture 3">
            <a:extLst>
              <a:ext uri="{FF2B5EF4-FFF2-40B4-BE49-F238E27FC236}">
                <a16:creationId xmlns:a16="http://schemas.microsoft.com/office/drawing/2014/main" id="{C41DF5F1-1D83-0644-ACA5-4A98A2D371EE}"/>
              </a:ext>
            </a:extLst>
          </p:cNvPr>
          <p:cNvPicPr>
            <a:picLocks noChangeAspect="1"/>
          </p:cNvPicPr>
          <p:nvPr/>
        </p:nvPicPr>
        <p:blipFill>
          <a:blip r:embed="rId2"/>
          <a:stretch>
            <a:fillRect/>
          </a:stretch>
        </p:blipFill>
        <p:spPr>
          <a:xfrm>
            <a:off x="585217" y="1011198"/>
            <a:ext cx="11031683" cy="5885773"/>
          </a:xfrm>
          <a:prstGeom prst="rect">
            <a:avLst/>
          </a:prstGeom>
        </p:spPr>
      </p:pic>
    </p:spTree>
    <p:extLst>
      <p:ext uri="{BB962C8B-B14F-4D97-AF65-F5344CB8AC3E}">
        <p14:creationId xmlns:p14="http://schemas.microsoft.com/office/powerpoint/2010/main" val="357854512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614AD-2DD0-4A96-8905-6F38499B3000}"/>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56BE7EE2-188A-482F-9833-93175AB137FC}"/>
              </a:ext>
            </a:extLst>
          </p:cNvPr>
          <p:cNvSpPr>
            <a:spLocks noGrp="1"/>
          </p:cNvSpPr>
          <p:nvPr>
            <p:ph sz="quarter" idx="10"/>
          </p:nvPr>
        </p:nvSpPr>
        <p:spPr>
          <a:xfrm>
            <a:off x="584200" y="1435100"/>
            <a:ext cx="11018838" cy="430887"/>
          </a:xfrm>
        </p:spPr>
        <p:txBody>
          <a:bodyPr/>
          <a:lstStyle/>
          <a:p>
            <a:r>
              <a:rPr lang="en-US" dirty="0"/>
              <a:t>In your notebook, write down two things you learned today.</a:t>
            </a:r>
          </a:p>
        </p:txBody>
      </p:sp>
    </p:spTree>
    <p:custDataLst>
      <p:tags r:id="rId1"/>
    </p:custDataLst>
    <p:extLst>
      <p:ext uri="{BB962C8B-B14F-4D97-AF65-F5344CB8AC3E}">
        <p14:creationId xmlns:p14="http://schemas.microsoft.com/office/powerpoint/2010/main" val="110622525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1DCEB6-7239-4F94-A780-B2EFCA1B73D9}">
  <ds:schemaRefs>
    <ds:schemaRef ds:uri="http://schemas.microsoft.com/sharepoint/v3/contenttype/forms"/>
  </ds:schemaRefs>
</ds:datastoreItem>
</file>

<file path=customXml/itemProps2.xml><?xml version="1.0" encoding="utf-8"?>
<ds:datastoreItem xmlns:ds="http://schemas.openxmlformats.org/officeDocument/2006/customXml" ds:itemID="{3EA57B1E-7B5F-4DEF-909C-0F1E7DA4F38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5C17B68-2A08-437F-9A8C-DA61D1C087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482</Words>
  <Application>Microsoft Macintosh PowerPoint</Application>
  <PresentationFormat>Widescreen</PresentationFormat>
  <Paragraphs>74</Paragraphs>
  <Slides>15</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Arial</vt:lpstr>
      <vt:lpstr>Calibri</vt:lpstr>
      <vt:lpstr>Consolas</vt:lpstr>
      <vt:lpstr>Segoe UI</vt:lpstr>
      <vt:lpstr>Segoe UI Semibold</vt:lpstr>
      <vt:lpstr>Wingdings</vt:lpstr>
      <vt:lpstr>Microsoft Philanthropies TEALS</vt:lpstr>
      <vt:lpstr>Black Template</vt:lpstr>
      <vt:lpstr>Lesson: 1.01 Setup</vt:lpstr>
      <vt:lpstr>Setup</vt:lpstr>
      <vt:lpstr>Today’s plan </vt:lpstr>
      <vt:lpstr>Do now</vt:lpstr>
      <vt:lpstr>Syllabus</vt:lpstr>
      <vt:lpstr>Overview of this course</vt:lpstr>
      <vt:lpstr>Lab Projects</vt:lpstr>
      <vt:lpstr>What is Python?</vt:lpstr>
      <vt:lpstr>Jupyter Notebooks</vt:lpstr>
      <vt:lpstr>Hello world</vt:lpstr>
      <vt:lpstr>Rename the Jupyter Notebook</vt:lpstr>
      <vt:lpstr>Click Share</vt:lpstr>
      <vt:lpstr>Click Share with Grand Coulee Dam School District</vt:lpstr>
      <vt:lpstr>Copy link to share in Google Classroom</vt:lpstr>
      <vt:lpstr>Exit ticket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2019-12-07T18:44:30Z</dcterms:created>
  <dcterms:modified xsi:type="dcterms:W3CDTF">2022-01-02T10:11:58Z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y fmtid="{D5CDD505-2E9C-101B-9397-08002B2CF9AE}" pid="3" name="ArticulateGUID">
    <vt:lpwstr>6D024070-C18D-4BAA-AD26-ADF5C0EF6E3D</vt:lpwstr>
  </property>
  <property fmtid="{D5CDD505-2E9C-101B-9397-08002B2CF9AE}" pid="4" name="ArticulatePath">
    <vt:lpwstr>Intro Python 1.01 TEALS</vt:lpwstr>
  </property>
</Properties>
</file>